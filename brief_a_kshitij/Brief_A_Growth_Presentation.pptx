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question and the claim, nothing else. Twenty seconds. The cover is read, not presented.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minute. Her words first, then the translation in one line, then the decision. If the panel does not know what decision hangs on your answer by the end of this slide, nothing after it matters.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Ninety seconds. Point at two numbers on the picture, the two that carry the claim. Do not read the diagram aloud.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sentence. Stop. Count to two. The silence is the point; the slide has one sentence on it so the room reads it twice.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minutes. Each number with its denominator, said aloud. Point at the chart's axis label where the denominator is written. This is the slide the finance controller checks against the decisions log.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Ninety seconds. One caveat, chosen, with its size. One rejected alternative from the approach log. This slide is where the panel decides whether you thought or just computed.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minute. End on the cost of being wrong. No thanks, no summary, no inspirational closing line. Then say 'questions' and stop talking.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this up during questions. When asked 'why this and not that', open the approach-log row on screen rather than answering from memory.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shown only if the panel asks. Do not present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shown only if the panel asks. Do not present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6858000"/>
          </a:xfrm>
          <a:prstGeom prst="roundRect">
            <a:avLst>
              <a:gd name="adj" fmla="val 8000"/>
            </a:avLst>
          </a:prstGeom>
          <a:solidFill>
            <a:srgbClr val="1A0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itgn_seal.png"/>
          <p:cNvPicPr>
            <a:picLocks noChangeAspect="1"/>
          </p:cNvPicPr>
          <p:nvPr/>
        </p:nvPicPr>
        <p:blipFill>
          <a:blip r:embed="rId2"/>
          <a:stretch>
            <a:fillRect/>
          </a:stretch>
        </p:blipFill>
        <p:spPr>
          <a:xfrm>
            <a:off x="548640" y="457200"/>
            <a:ext cx="914400" cy="914400"/>
          </a:xfrm>
          <a:prstGeom prst="rect">
            <a:avLst/>
          </a:prstGeom>
        </p:spPr>
      </p:pic>
      <p:sp>
        <p:nvSpPr>
          <p:cNvPr id="4" name="TextBox 3"/>
          <p:cNvSpPr txBox="1"/>
          <p:nvPr/>
        </p:nvSpPr>
        <p:spPr>
          <a:xfrm>
            <a:off x="1645920" y="502920"/>
            <a:ext cx="8229600" cy="457200"/>
          </a:xfrm>
          <a:prstGeom prst="rect">
            <a:avLst/>
          </a:prstGeom>
          <a:noFill/>
        </p:spPr>
        <p:txBody>
          <a:bodyPr wrap="square">
            <a:spAutoFit/>
          </a:bodyPr>
          <a:lstStyle/>
          <a:p>
            <a:pPr algn="l"/>
            <a:r>
              <a:rPr sz="1100" b="1">
                <a:solidFill>
                  <a:srgbClr val="FFFFFF"/>
                </a:solidFill>
                <a:latin typeface="Arial"/>
              </a:rPr>
              <a:t>INDIAN INSTITUTE OF TECHNOLOGY GANDHINAGAR</a:t>
            </a:r>
          </a:p>
        </p:txBody>
      </p:sp>
      <p:sp>
        <p:nvSpPr>
          <p:cNvPr id="5" name="TextBox 4"/>
          <p:cNvSpPr txBox="1"/>
          <p:nvPr/>
        </p:nvSpPr>
        <p:spPr>
          <a:xfrm>
            <a:off x="1645920" y="868680"/>
            <a:ext cx="8229600" cy="457200"/>
          </a:xfrm>
          <a:prstGeom prst="rect">
            <a:avLst/>
          </a:prstGeom>
          <a:noFill/>
        </p:spPr>
        <p:txBody>
          <a:bodyPr wrap="square">
            <a:spAutoFit/>
          </a:bodyPr>
          <a:lstStyle/>
          <a:p>
            <a:pPr algn="l"/>
            <a:r>
              <a:rPr sz="1100" b="0">
                <a:solidFill>
                  <a:srgbClr val="D9A7FF"/>
                </a:solidFill>
                <a:latin typeface="Arial"/>
              </a:rPr>
              <a:t>PG Diploma in AI-ML and Agentic AI Engineering · Cohort 2 · Build 1</a:t>
            </a:r>
          </a:p>
        </p:txBody>
      </p:sp>
      <p:sp>
        <p:nvSpPr>
          <p:cNvPr id="6" name="TextBox 5"/>
          <p:cNvSpPr txBox="1"/>
          <p:nvPr/>
        </p:nvSpPr>
        <p:spPr>
          <a:xfrm>
            <a:off x="548640" y="2194560"/>
            <a:ext cx="10972800" cy="457200"/>
          </a:xfrm>
          <a:prstGeom prst="rect">
            <a:avLst/>
          </a:prstGeom>
          <a:noFill/>
        </p:spPr>
        <p:txBody>
          <a:bodyPr wrap="square">
            <a:spAutoFit/>
          </a:bodyPr>
          <a:lstStyle/>
          <a:p>
            <a:pPr algn="l">
              <a:spcAft>
                <a:spcPts val="600"/>
              </a:spcAft>
              <a:defRPr sz="1100" b="1" i="0">
                <a:solidFill>
                  <a:srgbClr val="0284C7"/>
                </a:solidFill>
                <a:latin typeface="Arial"/>
              </a:defRPr>
            </a:pPr>
            <a:r>
              <a:t>BRIEF A · GROWTH H1 2025 vs H1 2026 · GROUP 2</a:t>
            </a:r>
          </a:p>
        </p:txBody>
      </p:sp>
      <p:sp>
        <p:nvSpPr>
          <p:cNvPr id="7" name="TextBox 6"/>
          <p:cNvSpPr txBox="1"/>
          <p:nvPr/>
        </p:nvSpPr>
        <p:spPr>
          <a:xfrm>
            <a:off x="548640" y="2651760"/>
            <a:ext cx="10972800" cy="1463040"/>
          </a:xfrm>
          <a:prstGeom prst="rect">
            <a:avLst/>
          </a:prstGeom>
          <a:noFill/>
        </p:spPr>
        <p:txBody>
          <a:bodyPr wrap="square">
            <a:spAutoFit/>
          </a:bodyPr>
          <a:lstStyle/>
          <a:p>
            <a:pPr algn="l">
              <a:spcAft>
                <a:spcPts val="600"/>
              </a:spcAft>
              <a:defRPr sz="3400" b="1" i="0">
                <a:solidFill>
                  <a:srgbClr val="0F294A"/>
                </a:solidFill>
                <a:latin typeface="Georgia"/>
              </a:defRPr>
            </a:pPr>
            <a:r>
              <a:t>Where Did the Growth Come From — and Why Did Jaipur and Chennai Lag?</a:t>
            </a:r>
          </a:p>
        </p:txBody>
      </p:sp>
      <p:sp>
        <p:nvSpPr>
          <p:cNvPr id="8" name="TextBox 7"/>
          <p:cNvSpPr txBox="1"/>
          <p:nvPr/>
        </p:nvSpPr>
        <p:spPr>
          <a:xfrm>
            <a:off x="548640" y="4206240"/>
            <a:ext cx="10058400" cy="731520"/>
          </a:xfrm>
          <a:prstGeom prst="rect">
            <a:avLst/>
          </a:prstGeom>
          <a:noFill/>
        </p:spPr>
        <p:txBody>
          <a:bodyPr wrap="square">
            <a:spAutoFit/>
          </a:bodyPr>
          <a:lstStyle/>
          <a:p>
            <a:pPr algn="l">
              <a:spcAft>
                <a:spcPts val="600"/>
              </a:spcAft>
              <a:defRPr sz="1400" b="0" i="0">
                <a:solidFill>
                  <a:srgbClr val="334155"/>
                </a:solidFill>
                <a:latin typeface="Arial"/>
              </a:defRPr>
            </a:pPr>
            <a:r>
              <a:t>Test results grew 5.75% from H1 2025 to H1 2026 (357,769 to 378,358 rows), propelled by a 37.7% surge in home collection and 35.2% package test adoption, while clinic results declined 12.1% and patient acquisition lagged in Jaipur (-9.9%) and Chennai (+1.3%).</a:t>
            </a:r>
          </a:p>
        </p:txBody>
      </p:sp>
      <p:sp>
        <p:nvSpPr>
          <p:cNvPr id="9" name="TextBox 8"/>
          <p:cNvSpPr txBox="1"/>
          <p:nvPr/>
        </p:nvSpPr>
        <p:spPr>
          <a:xfrm>
            <a:off x="548640" y="5852160"/>
            <a:ext cx="10972800" cy="457200"/>
          </a:xfrm>
          <a:prstGeom prst="rect">
            <a:avLst/>
          </a:prstGeom>
          <a:noFill/>
        </p:spPr>
        <p:txBody>
          <a:bodyPr wrap="square">
            <a:spAutoFit/>
          </a:bodyPr>
          <a:lstStyle/>
          <a:p>
            <a:pPr algn="l">
              <a:spcAft>
                <a:spcPts val="600"/>
              </a:spcAft>
              <a:defRPr sz="1200" b="1" i="0">
                <a:solidFill>
                  <a:srgbClr val="0F294A"/>
                </a:solidFill>
                <a:latin typeface="Arial"/>
              </a:defRPr>
            </a:pPr>
            <a:r>
              <a:t>Harshal Patil · Kshitij · Gaurang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1 · THE QUESTION</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1 / 6</a:t>
            </a:r>
          </a:p>
        </p:txBody>
      </p:sp>
      <p:pic>
        <p:nvPicPr>
          <p:cNvPr id="5" name="Picture 4" descr="iitgn_seal.png"/>
          <p:cNvPicPr>
            <a:picLocks noChangeAspect="1"/>
          </p:cNvPicPr>
          <p:nvPr/>
        </p:nvPicPr>
        <p:blipFill>
          <a:blip r:embed="rId2"/>
          <a:stretch>
            <a:fillRect/>
          </a:stretch>
        </p:blipFill>
        <p:spPr>
          <a:xfrm>
            <a:off x="457200" y="6263640"/>
            <a:ext cx="411480" cy="411480"/>
          </a:xfrm>
          <a:prstGeom prst="rect">
            <a:avLst/>
          </a:prstGeom>
        </p:spPr>
      </p:pic>
      <p:sp>
        <p:nvSpPr>
          <p:cNvPr id="6"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7" name="TextBox 6"/>
          <p:cNvSpPr txBox="1"/>
          <p:nvPr/>
        </p:nvSpPr>
        <p:spPr>
          <a:xfrm>
            <a:off x="457200" y="640080"/>
            <a:ext cx="11247120" cy="914400"/>
          </a:xfrm>
          <a:prstGeom prst="rect">
            <a:avLst/>
          </a:prstGeom>
          <a:noFill/>
        </p:spPr>
        <p:txBody>
          <a:bodyPr wrap="square">
            <a:spAutoFit/>
          </a:bodyPr>
          <a:lstStyle/>
          <a:p>
            <a:pPr algn="l">
              <a:spcAft>
                <a:spcPts val="600"/>
              </a:spcAft>
              <a:defRPr sz="2600" b="1" i="0">
                <a:solidFill>
                  <a:srgbClr val="0F294A"/>
                </a:solidFill>
                <a:latin typeface="Georgia"/>
              </a:defRPr>
            </a:pPr>
            <a:r>
              <a:t>Dr Menon's words, and our translation</a:t>
            </a:r>
          </a:p>
        </p:txBody>
      </p:sp>
      <p:sp>
        <p:nvSpPr>
          <p:cNvPr id="8" name="TextBox 7"/>
          <p:cNvSpPr txBox="1"/>
          <p:nvPr/>
        </p:nvSpPr>
        <p:spPr>
          <a:xfrm>
            <a:off x="457200" y="1645920"/>
            <a:ext cx="11247120" cy="4206240"/>
          </a:xfrm>
          <a:prstGeom prst="rect">
            <a:avLst/>
          </a:prstGeom>
          <a:noFill/>
        </p:spPr>
        <p:txBody>
          <a:bodyPr wrap="square">
            <a:spAutoFit/>
          </a:bodyPr>
          <a:lstStyle/>
          <a:p>
            <a:pPr algn="l">
              <a:spcAft>
                <a:spcPts val="300"/>
              </a:spcAft>
              <a:defRPr sz="1300" b="1" i="0">
                <a:solidFill>
                  <a:srgbClr val="0F294A"/>
                </a:solidFill>
                <a:latin typeface="Arial"/>
              </a:defRPr>
            </a:pPr>
            <a:r>
              <a:t>Her words:</a:t>
            </a:r>
          </a:p>
          <a:p>
            <a:pPr>
              <a:spcAft>
                <a:spcPts val="1200"/>
              </a:spcAft>
              <a:defRPr sz="1250" b="0" i="1">
                <a:solidFill>
                  <a:srgbClr val="1E293B"/>
                </a:solidFill>
                <a:latin typeface="Georgia"/>
              </a:defRPr>
            </a:pPr>
            <a:r>
              <a:t>“We grew 5% in H1 2026, but I need to know where that growth came from. Is it new patients or existing ones coming back? Are clinics driving it or home collection? And why are Jaipur and Chennai missing their targets?”</a:t>
            </a:r>
          </a:p>
          <a:p>
            <a:pPr>
              <a:spcAft>
                <a:spcPts val="300"/>
              </a:spcAft>
              <a:defRPr sz="1300" b="1" i="0">
                <a:solidFill>
                  <a:srgbClr val="0F294A"/>
                </a:solidFill>
                <a:latin typeface="Arial"/>
              </a:defRPr>
            </a:pPr>
            <a:r>
              <a:t>Our translation:</a:t>
            </a:r>
          </a:p>
          <a:p>
            <a:pPr>
              <a:spcAft>
                <a:spcPts val="1200"/>
              </a:spcAft>
              <a:defRPr sz="1200" b="0" i="0">
                <a:solidFill>
                  <a:srgbClr val="1E293B"/>
                </a:solidFill>
                <a:latin typeface="Arial"/>
              </a:defRPr>
            </a:pPr>
            <a:r>
              <a:t>A multiplicative Growth Tree (Results = Patients × Visits/Patient × Tests/Visit × Results/Test Booked) combined with Channel Shift (+13.5 pp Home vs -7.7 pp Clinic), Package expansion (12.5% to 15.9% share), and Plan Attainment analysis across all six cities.</a:t>
            </a:r>
          </a:p>
          <a:p>
            <a:pPr>
              <a:spcAft>
                <a:spcPts val="300"/>
              </a:spcAft>
              <a:defRPr sz="1300" b="1" i="0">
                <a:solidFill>
                  <a:srgbClr val="0F294A"/>
                </a:solidFill>
                <a:latin typeface="Arial"/>
              </a:defRPr>
            </a:pPr>
            <a:r>
              <a:t>The decision it drives:</a:t>
            </a:r>
          </a:p>
          <a:p>
            <a:pPr>
              <a:spcAft>
                <a:spcPts val="0"/>
              </a:spcAft>
              <a:defRPr sz="1200" b="0" i="0">
                <a:solidFill>
                  <a:srgbClr val="1E293B"/>
                </a:solidFill>
                <a:latin typeface="Arial"/>
              </a:defRPr>
            </a:pPr>
            <a:r>
              <a:t>Fleet capital reallocation toward scaling home phlebotomy capacity (+37.7% growth) versus consolidating clinic overheads (-12.1%), plus restructuring commercial patient acquisition in lagging markets (Jaipur -9.9%, Chennai +1.3%).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2 · THE PICTURE</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2 / 6</a:t>
            </a:r>
          </a:p>
        </p:txBody>
      </p:sp>
      <p:pic>
        <p:nvPicPr>
          <p:cNvPr id="5" name="Picture 4" descr="iitgn_seal.png"/>
          <p:cNvPicPr>
            <a:picLocks noChangeAspect="1"/>
          </p:cNvPicPr>
          <p:nvPr/>
        </p:nvPicPr>
        <p:blipFill>
          <a:blip r:embed="rId2"/>
          <a:stretch>
            <a:fillRect/>
          </a:stretch>
        </p:blipFill>
        <p:spPr>
          <a:xfrm>
            <a:off x="457200" y="6263640"/>
            <a:ext cx="411480" cy="411480"/>
          </a:xfrm>
          <a:prstGeom prst="rect">
            <a:avLst/>
          </a:prstGeom>
        </p:spPr>
      </p:pic>
      <p:sp>
        <p:nvSpPr>
          <p:cNvPr id="6"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7" name="TextBox 6"/>
          <p:cNvSpPr txBox="1"/>
          <p:nvPr/>
        </p:nvSpPr>
        <p:spPr>
          <a:xfrm>
            <a:off x="457200" y="640080"/>
            <a:ext cx="11247120" cy="914400"/>
          </a:xfrm>
          <a:prstGeom prst="rect">
            <a:avLst/>
          </a:prstGeom>
          <a:noFill/>
        </p:spPr>
        <p:txBody>
          <a:bodyPr wrap="square">
            <a:spAutoFit/>
          </a:bodyPr>
          <a:lstStyle/>
          <a:p>
            <a:pPr algn="l">
              <a:spcAft>
                <a:spcPts val="600"/>
              </a:spcAft>
              <a:defRPr sz="2400" b="1" i="0">
                <a:solidFill>
                  <a:srgbClr val="0F294A"/>
                </a:solidFill>
                <a:latin typeface="Georgia"/>
              </a:defRPr>
            </a:pPr>
            <a:r>
              <a:t>The Growth Tree &amp; Channel Decomposition: H1 2025 vs H1 2026</a:t>
            </a:r>
          </a:p>
        </p:txBody>
      </p:sp>
      <p:sp>
        <p:nvSpPr>
          <p:cNvPr id="8" name="Rounded Rectangle 7"/>
          <p:cNvSpPr/>
          <p:nvPr/>
        </p:nvSpPr>
        <p:spPr>
          <a:xfrm>
            <a:off x="457200" y="1645920"/>
            <a:ext cx="11247120" cy="4206240"/>
          </a:xfrm>
          <a:prstGeom prst="roundRect">
            <a:avLst>
              <a:gd name="adj" fmla="val 8000"/>
            </a:avLst>
          </a:prstGeom>
          <a:solidFill>
            <a:srgbClr val="FFFFFF"/>
          </a:solidFill>
          <a:ln>
            <a:solidFill>
              <a:srgbClr val="D9D2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3017520"/>
            <a:ext cx="10515600" cy="1463040"/>
          </a:xfrm>
          <a:prstGeom prst="rect">
            <a:avLst/>
          </a:prstGeom>
          <a:noFill/>
        </p:spPr>
        <p:txBody>
          <a:bodyPr wrap="square">
            <a:spAutoFit/>
          </a:bodyPr>
          <a:lstStyle/>
          <a:p>
            <a:pPr algn="ctr"/>
          </a:p>
        </p:txBody>
      </p:sp>
      <p:pic>
        <p:nvPicPr>
          <p:cNvPr id="10" name="Picture 9" descr="slide3_growth_tree.png"/>
          <p:cNvPicPr>
            <a:picLocks noChangeAspect="1"/>
          </p:cNvPicPr>
          <p:nvPr/>
        </p:nvPicPr>
        <p:blipFill>
          <a:blip r:embed="rId4"/>
          <a:stretch>
            <a:fillRect/>
          </a:stretch>
        </p:blipFill>
        <p:spPr>
          <a:xfrm>
            <a:off x="502920" y="1691640"/>
            <a:ext cx="11155680" cy="41148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3 · THE CLAIM</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3 / 6</a:t>
            </a:r>
          </a:p>
        </p:txBody>
      </p:sp>
      <p:pic>
        <p:nvPicPr>
          <p:cNvPr id="5" name="Picture 4" descr="iitgn_seal.png"/>
          <p:cNvPicPr>
            <a:picLocks noChangeAspect="1"/>
          </p:cNvPicPr>
          <p:nvPr/>
        </p:nvPicPr>
        <p:blipFill>
          <a:blip r:embed="rId2"/>
          <a:stretch>
            <a:fillRect/>
          </a:stretch>
        </p:blipFill>
        <p:spPr>
          <a:xfrm>
            <a:off x="457200" y="6263640"/>
            <a:ext cx="411480" cy="411480"/>
          </a:xfrm>
          <a:prstGeom prst="rect">
            <a:avLst/>
          </a:prstGeom>
        </p:spPr>
      </p:pic>
      <p:sp>
        <p:nvSpPr>
          <p:cNvPr id="6"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7" name="TextBox 6"/>
          <p:cNvSpPr txBox="1"/>
          <p:nvPr/>
        </p:nvSpPr>
        <p:spPr>
          <a:xfrm>
            <a:off x="457200" y="640080"/>
            <a:ext cx="11247120" cy="914400"/>
          </a:xfrm>
          <a:prstGeom prst="rect">
            <a:avLst/>
          </a:prstGeom>
          <a:noFill/>
        </p:spPr>
        <p:txBody>
          <a:bodyPr wrap="square">
            <a:spAutoFit/>
          </a:bodyPr>
          <a:lstStyle/>
          <a:p>
            <a:pPr algn="l">
              <a:spcAft>
                <a:spcPts val="600"/>
              </a:spcAft>
              <a:defRPr sz="2400" b="1" i="0">
                <a:solidFill>
                  <a:srgbClr val="0F294A"/>
                </a:solidFill>
                <a:latin typeface="Georgia"/>
              </a:defRPr>
            </a:pPr>
            <a:r>
              <a:t>The one sentence Dr Menon can say to her board</a:t>
            </a:r>
          </a:p>
        </p:txBody>
      </p:sp>
      <p:sp>
        <p:nvSpPr>
          <p:cNvPr id="8" name="Rounded Rectangle 7"/>
          <p:cNvSpPr/>
          <p:nvPr/>
        </p:nvSpPr>
        <p:spPr>
          <a:xfrm>
            <a:off x="457200" y="2011680"/>
            <a:ext cx="11247120" cy="2377440"/>
          </a:xfrm>
          <a:prstGeom prst="roundRect">
            <a:avLst>
              <a:gd name="adj" fmla="val 8000"/>
            </a:avLst>
          </a:prstGeom>
          <a:solidFill>
            <a:srgbClr val="EEE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286000"/>
            <a:ext cx="10515600" cy="1828800"/>
          </a:xfrm>
          <a:prstGeom prst="rect">
            <a:avLst/>
          </a:prstGeom>
          <a:noFill/>
        </p:spPr>
        <p:txBody>
          <a:bodyPr wrap="square">
            <a:spAutoFit/>
          </a:bodyPr>
          <a:lstStyle/>
          <a:p>
            <a:pPr algn="ctr">
              <a:spcAft>
                <a:spcPts val="600"/>
              </a:spcAft>
              <a:defRPr sz="2200" b="0" i="1">
                <a:solidFill>
                  <a:srgbClr val="0F294A"/>
                </a:solidFill>
                <a:latin typeface="Georgia"/>
              </a:defRPr>
            </a:pPr>
            <a:r>
              <a:t>“Kalpa grew test volume by 5.75% (378,358 results across six cities in H1 2026 vs 357,769 in H1 2025), driven entirely by a 37.7% surge in home collection (+13.5 pp) and 35.2% growth in health packages (+4.4 pp), masking a 12.1% clinic volume decline (-7.7 pp) and acute patient acquisition shortfalls in Jaipur (-9.9%) and Chennai (+1.3%).”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4 · THE EVIDENCE</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4 / 6</a:t>
            </a:r>
          </a:p>
        </p:txBody>
      </p:sp>
      <p:pic>
        <p:nvPicPr>
          <p:cNvPr id="5" name="Picture 4" descr="iitgn_seal.png"/>
          <p:cNvPicPr>
            <a:picLocks noChangeAspect="1"/>
          </p:cNvPicPr>
          <p:nvPr/>
        </p:nvPicPr>
        <p:blipFill>
          <a:blip r:embed="rId2"/>
          <a:stretch>
            <a:fillRect/>
          </a:stretch>
        </p:blipFill>
        <p:spPr>
          <a:xfrm>
            <a:off x="457200" y="6263640"/>
            <a:ext cx="411480" cy="411480"/>
          </a:xfrm>
          <a:prstGeom prst="rect">
            <a:avLst/>
          </a:prstGeom>
        </p:spPr>
      </p:pic>
      <p:sp>
        <p:nvSpPr>
          <p:cNvPr id="6"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7" name="TextBox 6"/>
          <p:cNvSpPr txBox="1"/>
          <p:nvPr/>
        </p:nvSpPr>
        <p:spPr>
          <a:xfrm>
            <a:off x="457200" y="640080"/>
            <a:ext cx="11247120" cy="914400"/>
          </a:xfrm>
          <a:prstGeom prst="rect">
            <a:avLst/>
          </a:prstGeom>
          <a:noFill/>
        </p:spPr>
        <p:txBody>
          <a:bodyPr wrap="square">
            <a:spAutoFit/>
          </a:bodyPr>
          <a:lstStyle/>
          <a:p>
            <a:pPr algn="l">
              <a:spcAft>
                <a:spcPts val="600"/>
              </a:spcAft>
              <a:defRPr sz="2400" b="1" i="0">
                <a:solidFill>
                  <a:srgbClr val="0F294A"/>
                </a:solidFill>
                <a:latin typeface="Georgia"/>
              </a:defRPr>
            </a:pPr>
            <a:r>
              <a:t>Channel shift, package lift, and regional shortfall</a:t>
            </a:r>
          </a:p>
        </p:txBody>
      </p:sp>
      <p:sp>
        <p:nvSpPr>
          <p:cNvPr id="8" name="TextBox 7"/>
          <p:cNvSpPr txBox="1"/>
          <p:nvPr/>
        </p:nvSpPr>
        <p:spPr>
          <a:xfrm>
            <a:off x="457200" y="1645920"/>
            <a:ext cx="4754880" cy="4114800"/>
          </a:xfrm>
          <a:prstGeom prst="rect">
            <a:avLst/>
          </a:prstGeom>
          <a:noFill/>
        </p:spPr>
        <p:txBody>
          <a:bodyPr wrap="square">
            <a:spAutoFit/>
          </a:bodyPr>
          <a:lstStyle/>
          <a:p>
            <a:pPr algn="l">
              <a:spcAft>
                <a:spcPts val="200"/>
              </a:spcAft>
              <a:defRPr sz="1200" b="1" i="0">
                <a:solidFill>
                  <a:srgbClr val="0F294A"/>
                </a:solidFill>
                <a:latin typeface="Arial"/>
              </a:defRPr>
            </a:pPr>
            <a:r>
              <a:t>Number 1 · Channel Divergence:</a:t>
            </a:r>
          </a:p>
          <a:p>
            <a:pPr>
              <a:spcAft>
                <a:spcPts val="1000"/>
              </a:spcAft>
              <a:defRPr sz="1050" b="0" i="0">
                <a:solidFill>
                  <a:srgbClr val="1E293B"/>
                </a:solidFill>
                <a:latin typeface="Arial"/>
              </a:defRPr>
            </a:pPr>
            <a:r>
              <a:t>Home collection grew +37.7% (152,709 vs 110,929 results; +13.5 pp contribution) across every city, while clinic results fell -12.1% (223,727 vs 245,042; -7.7 pp drag).</a:t>
            </a:r>
          </a:p>
          <a:p>
            <a:pPr>
              <a:spcAft>
                <a:spcPts val="200"/>
              </a:spcAft>
              <a:defRPr sz="1200" b="1" i="0">
                <a:solidFill>
                  <a:srgbClr val="0F294A"/>
                </a:solidFill>
                <a:latin typeface="Arial"/>
              </a:defRPr>
            </a:pPr>
            <a:r>
              <a:t>Number 2 · Package Adoption:</a:t>
            </a:r>
          </a:p>
          <a:p>
            <a:pPr>
              <a:spcAft>
                <a:spcPts val="1000"/>
              </a:spcAft>
              <a:defRPr sz="1050" b="0" i="0">
                <a:solidFill>
                  <a:srgbClr val="1E293B"/>
                </a:solidFill>
                <a:latin typeface="Arial"/>
              </a:defRPr>
            </a:pPr>
            <a:r>
              <a:t>Package tests (PK01–PK04) surged +35.2% (60,110 vs 44,467 rows), expanding package share from 12.5% to 15.9% across channels (+4.4 pp contribution), while routine single tests grew only +1.6%.</a:t>
            </a:r>
          </a:p>
          <a:p>
            <a:pPr>
              <a:spcAft>
                <a:spcPts val="200"/>
              </a:spcAft>
              <a:defRPr sz="1200" b="1" i="0">
                <a:solidFill>
                  <a:srgbClr val="0F294A"/>
                </a:solidFill>
                <a:latin typeface="Arial"/>
              </a:defRPr>
            </a:pPr>
            <a:r>
              <a:t>Number 3 · Regional Shortfall vs Plan:</a:t>
            </a:r>
          </a:p>
          <a:p>
            <a:pPr>
              <a:spcAft>
                <a:spcPts val="0"/>
              </a:spcAft>
              <a:defRPr sz="1050" b="0" i="0">
                <a:solidFill>
                  <a:srgbClr val="1E293B"/>
                </a:solidFill>
                <a:latin typeface="Arial"/>
              </a:defRPr>
            </a:pPr>
            <a:r>
              <a:t>Jaipur (-9.9% YoY) and Chennai (+1.3% YoY) attained only 63.6% and 70.4% of H1 2026 plan targets (vs ~75% other cities) due to a -12.1% and -5.0% collapse in unique patients; lab fulfilment stayed rock solid at 82.5%–83.3%.</a:t>
            </a:r>
          </a:p>
        </p:txBody>
      </p:sp>
      <p:sp>
        <p:nvSpPr>
          <p:cNvPr id="9" name="Rounded Rectangle 8"/>
          <p:cNvSpPr/>
          <p:nvPr/>
        </p:nvSpPr>
        <p:spPr>
          <a:xfrm>
            <a:off x="5486400" y="1645920"/>
            <a:ext cx="6217920" cy="4206240"/>
          </a:xfrm>
          <a:prstGeom prst="roundRect">
            <a:avLst>
              <a:gd name="adj" fmla="val 8000"/>
            </a:avLst>
          </a:prstGeom>
          <a:solidFill>
            <a:srgbClr val="FFFFFF"/>
          </a:solidFill>
          <a:ln>
            <a:solidFill>
              <a:srgbClr val="D9D2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60720" y="3474720"/>
            <a:ext cx="5669280" cy="731520"/>
          </a:xfrm>
          <a:prstGeom prst="rect">
            <a:avLst/>
          </a:prstGeom>
          <a:noFill/>
        </p:spPr>
        <p:txBody>
          <a:bodyPr wrap="square">
            <a:spAutoFit/>
          </a:bodyPr>
          <a:lstStyle/>
          <a:p>
            <a:pPr algn="ctr"/>
          </a:p>
        </p:txBody>
      </p:sp>
      <p:pic>
        <p:nvPicPr>
          <p:cNvPr id="11" name="Picture 10" descr="slide4_chart.png"/>
          <p:cNvPicPr>
            <a:picLocks noChangeAspect="1"/>
          </p:cNvPicPr>
          <p:nvPr/>
        </p:nvPicPr>
        <p:blipFill>
          <a:blip r:embed="rId4"/>
          <a:stretch>
            <a:fillRect/>
          </a:stretch>
        </p:blipFill>
        <p:spPr>
          <a:xfrm>
            <a:off x="5532120" y="1691640"/>
            <a:ext cx="6126480" cy="41148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5 · THE CAVEAT AND THE ALTERNATIVE</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5 / 6</a:t>
            </a:r>
          </a:p>
        </p:txBody>
      </p:sp>
      <p:pic>
        <p:nvPicPr>
          <p:cNvPr id="5" name="Picture 4" descr="iitgn_seal.png"/>
          <p:cNvPicPr>
            <a:picLocks noChangeAspect="1"/>
          </p:cNvPicPr>
          <p:nvPr/>
        </p:nvPicPr>
        <p:blipFill>
          <a:blip r:embed="rId2"/>
          <a:stretch>
            <a:fillRect/>
          </a:stretch>
        </p:blipFill>
        <p:spPr>
          <a:xfrm>
            <a:off x="457200" y="6263640"/>
            <a:ext cx="411480" cy="411480"/>
          </a:xfrm>
          <a:prstGeom prst="rect">
            <a:avLst/>
          </a:prstGeom>
        </p:spPr>
      </p:pic>
      <p:sp>
        <p:nvSpPr>
          <p:cNvPr id="6"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7" name="TextBox 6"/>
          <p:cNvSpPr txBox="1"/>
          <p:nvPr/>
        </p:nvSpPr>
        <p:spPr>
          <a:xfrm>
            <a:off x="457200" y="640080"/>
            <a:ext cx="11247120" cy="914400"/>
          </a:xfrm>
          <a:prstGeom prst="rect">
            <a:avLst/>
          </a:prstGeom>
          <a:noFill/>
        </p:spPr>
        <p:txBody>
          <a:bodyPr wrap="square">
            <a:spAutoFit/>
          </a:bodyPr>
          <a:lstStyle/>
          <a:p>
            <a:pPr algn="l">
              <a:spcAft>
                <a:spcPts val="600"/>
              </a:spcAft>
              <a:defRPr sz="2400" b="1" i="0">
                <a:solidFill>
                  <a:srgbClr val="0F294A"/>
                </a:solidFill>
                <a:latin typeface="Georgia"/>
              </a:defRPr>
            </a:pPr>
            <a:r>
              <a:t>What would change the claim; the approach we rejected</a:t>
            </a:r>
          </a:p>
        </p:txBody>
      </p:sp>
      <p:sp>
        <p:nvSpPr>
          <p:cNvPr id="8" name="TextBox 7"/>
          <p:cNvSpPr txBox="1"/>
          <p:nvPr/>
        </p:nvSpPr>
        <p:spPr>
          <a:xfrm>
            <a:off x="457200" y="1645920"/>
            <a:ext cx="11247120" cy="4206240"/>
          </a:xfrm>
          <a:prstGeom prst="rect">
            <a:avLst/>
          </a:prstGeom>
          <a:noFill/>
        </p:spPr>
        <p:txBody>
          <a:bodyPr wrap="square">
            <a:spAutoFit/>
          </a:bodyPr>
          <a:lstStyle/>
          <a:p>
            <a:pPr algn="l">
              <a:spcAft>
                <a:spcPts val="300"/>
              </a:spcAft>
              <a:defRPr sz="1300" b="1" i="0">
                <a:solidFill>
                  <a:srgbClr val="0F294A"/>
                </a:solidFill>
                <a:latin typeface="Arial"/>
              </a:defRPr>
            </a:pPr>
            <a:r>
              <a:t>The one thing that would change this claim:</a:t>
            </a:r>
          </a:p>
          <a:p>
            <a:pPr>
              <a:spcAft>
                <a:spcPts val="1400"/>
              </a:spcAft>
              <a:defRPr sz="1150" b="0" i="0">
                <a:solidFill>
                  <a:srgbClr val="1E293B"/>
                </a:solidFill>
                <a:latin typeface="Arial"/>
              </a:defRPr>
            </a:pPr>
            <a:r>
              <a:t>Package unbundling in lab accounting: A package (PK01–PK04) is logged as a single row in results tables. If each package bundles 4 to 6 discrete clinical lab tests, true clinical test volume grew by ~11% to 13% rather than 5.75%, making the home wellness transition even more dominant. (Additionally, 3,720 orphan results without bookings add +0.03 pp, and 94 null test codes remain UNKNOWN).</a:t>
            </a:r>
          </a:p>
          <a:p>
            <a:pPr>
              <a:spcAft>
                <a:spcPts val="300"/>
              </a:spcAft>
              <a:defRPr sz="1300" b="1" i="0">
                <a:solidFill>
                  <a:srgbClr val="0F294A"/>
                </a:solidFill>
                <a:latin typeface="Arial"/>
              </a:defRPr>
            </a:pPr>
            <a:r>
              <a:t>The approach we rejected on the way here:</a:t>
            </a:r>
          </a:p>
          <a:p>
            <a:pPr>
              <a:spcAft>
                <a:spcPts val="0"/>
              </a:spcAft>
              <a:defRPr sz="1150" b="0" i="0">
                <a:solidFill>
                  <a:srgbClr val="1E293B"/>
                </a:solidFill>
                <a:latin typeface="Arial"/>
              </a:defRPr>
            </a:pPr>
            <a:r>
              <a:t>Attributing Jaipur and Chennai shortfalls to the Nova software migration in April 2026. Four rigorous checks disproved this: (1) The growth deficit was already present in January 2026 (-0.2% vs +9.5% other cities), 3 months before Nova launched; (2) Returning patient retention is actually higher (37.4% &amp; 35.8% vs ~30%); (3) Patient ID syntax is identical; (4) Lab fulfilment (results per test booked) remained unaffected at 0.82–0.83. The problem is commercial demand/patient acquisition, not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6 · THE ACTION</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6 / 6</a:t>
            </a:r>
          </a:p>
        </p:txBody>
      </p:sp>
      <p:pic>
        <p:nvPicPr>
          <p:cNvPr id="5" name="Picture 4" descr="iitgn_seal.png"/>
          <p:cNvPicPr>
            <a:picLocks noChangeAspect="1"/>
          </p:cNvPicPr>
          <p:nvPr/>
        </p:nvPicPr>
        <p:blipFill>
          <a:blip r:embed="rId2"/>
          <a:stretch>
            <a:fillRect/>
          </a:stretch>
        </p:blipFill>
        <p:spPr>
          <a:xfrm>
            <a:off x="457200" y="6263640"/>
            <a:ext cx="411480" cy="411480"/>
          </a:xfrm>
          <a:prstGeom prst="rect">
            <a:avLst/>
          </a:prstGeom>
        </p:spPr>
      </p:pic>
      <p:sp>
        <p:nvSpPr>
          <p:cNvPr id="6"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7" name="TextBox 6"/>
          <p:cNvSpPr txBox="1"/>
          <p:nvPr/>
        </p:nvSpPr>
        <p:spPr>
          <a:xfrm>
            <a:off x="457200" y="640080"/>
            <a:ext cx="11247120" cy="914400"/>
          </a:xfrm>
          <a:prstGeom prst="rect">
            <a:avLst/>
          </a:prstGeom>
          <a:noFill/>
        </p:spPr>
        <p:txBody>
          <a:bodyPr wrap="square">
            <a:spAutoFit/>
          </a:bodyPr>
          <a:lstStyle/>
          <a:p>
            <a:pPr algn="l">
              <a:spcAft>
                <a:spcPts val="600"/>
              </a:spcAft>
              <a:defRPr sz="2400" b="1" i="0">
                <a:solidFill>
                  <a:srgbClr val="0F294A"/>
                </a:solidFill>
                <a:latin typeface="Georgia"/>
              </a:defRPr>
            </a:pPr>
            <a:r>
              <a:t>What to do, what it costs, what being wrong costs</a:t>
            </a:r>
          </a:p>
        </p:txBody>
      </p:sp>
      <p:sp>
        <p:nvSpPr>
          <p:cNvPr id="8" name="TextBox 7"/>
          <p:cNvSpPr txBox="1"/>
          <p:nvPr/>
        </p:nvSpPr>
        <p:spPr>
          <a:xfrm>
            <a:off x="457200" y="1645920"/>
            <a:ext cx="11247120" cy="4206240"/>
          </a:xfrm>
          <a:prstGeom prst="rect">
            <a:avLst/>
          </a:prstGeom>
          <a:noFill/>
        </p:spPr>
        <p:txBody>
          <a:bodyPr wrap="square">
            <a:spAutoFit/>
          </a:bodyPr>
          <a:lstStyle/>
          <a:p>
            <a:pPr algn="l">
              <a:spcAft>
                <a:spcPts val="200"/>
              </a:spcAft>
              <a:defRPr sz="1250" b="1" i="0">
                <a:solidFill>
                  <a:srgbClr val="0F294A"/>
                </a:solidFill>
                <a:latin typeface="Arial"/>
              </a:defRPr>
            </a:pPr>
            <a:r>
              <a:t>Do (on Monday morning):</a:t>
            </a:r>
          </a:p>
          <a:p>
            <a:pPr>
              <a:spcAft>
                <a:spcPts val="1000"/>
              </a:spcAft>
              <a:defRPr sz="1100" b="0" i="0">
                <a:solidFill>
                  <a:srgbClr val="1E293B"/>
                </a:solidFill>
                <a:latin typeface="Arial"/>
              </a:defRPr>
            </a:pPr>
            <a:r>
              <a:t>(1) Reallocate digital acquisition spend directly to patient acquisition in Jaipur and Chennai; (2) Expand home collection phlebotomist capacity by 25% across Bengaluru, Pune, and Ahmedabad; (3) Bundle routine single tests into wellness packages.</a:t>
            </a:r>
          </a:p>
          <a:p>
            <a:pPr>
              <a:spcAft>
                <a:spcPts val="200"/>
              </a:spcAft>
              <a:defRPr sz="1250" b="1" i="0">
                <a:solidFill>
                  <a:srgbClr val="0F294A"/>
                </a:solidFill>
                <a:latin typeface="Arial"/>
              </a:defRPr>
            </a:pPr>
            <a:r>
              <a:t>It costs:</a:t>
            </a:r>
          </a:p>
          <a:p>
            <a:pPr>
              <a:spcAft>
                <a:spcPts val="1000"/>
              </a:spcAft>
              <a:defRPr sz="1100" b="0" i="0">
                <a:solidFill>
                  <a:srgbClr val="1E293B"/>
                </a:solidFill>
                <a:latin typeface="Arial"/>
              </a:defRPr>
            </a:pPr>
            <a:r>
              <a:t>Reallocating ~Rs 15–20 Lakhs of existing H2 acquisition spend + onboarding ~30 contract phlebotomists (~Rs 9 Lakhs/month variable labor).</a:t>
            </a:r>
          </a:p>
          <a:p>
            <a:pPr>
              <a:spcAft>
                <a:spcPts val="200"/>
              </a:spcAft>
              <a:defRPr sz="1250" b="1" i="0">
                <a:solidFill>
                  <a:srgbClr val="0F294A"/>
                </a:solidFill>
                <a:latin typeface="Arial"/>
              </a:defRPr>
            </a:pPr>
            <a:r>
              <a:t>If we are wrong, it costs:</a:t>
            </a:r>
          </a:p>
          <a:p>
            <a:pPr>
              <a:spcAft>
                <a:spcPts val="1000"/>
              </a:spcAft>
              <a:defRPr sz="1100" b="0" i="0">
                <a:solidFill>
                  <a:srgbClr val="1E293B"/>
                </a:solidFill>
                <a:latin typeface="Arial"/>
              </a:defRPr>
            </a:pPr>
            <a:r>
              <a:t>Temporary excess phlebotomist idle hours in Q3 (which can be downscaled within 30 days), compared to the severe permanent penalty of losing clinic volume with no home offset.</a:t>
            </a:r>
          </a:p>
          <a:p>
            <a:pPr>
              <a:spcAft>
                <a:spcPts val="200"/>
              </a:spcAft>
              <a:defRPr sz="1250" b="1" i="0">
                <a:solidFill>
                  <a:srgbClr val="0F294A"/>
                </a:solidFill>
                <a:latin typeface="Arial"/>
              </a:defRPr>
            </a:pPr>
            <a:r>
              <a:t>What we would do with two more days:</a:t>
            </a:r>
          </a:p>
          <a:p>
            <a:pPr>
              <a:spcAft>
                <a:spcPts val="0"/>
              </a:spcAft>
              <a:defRPr sz="1100" b="0" i="0">
                <a:solidFill>
                  <a:srgbClr val="1E293B"/>
                </a:solidFill>
                <a:latin typeface="Arial"/>
              </a:defRPr>
            </a:pPr>
            <a:r>
              <a:t>Connect billing and settlement tables to calculate unit contribution margin per home visit vs clinic visit, accounting for the Rs 150 home fee versus clinic fixed real estate overhead.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6858000"/>
          </a:xfrm>
          <a:prstGeom prst="roundRect">
            <a:avLst>
              <a:gd name="adj" fmla="val 8000"/>
            </a:avLst>
          </a:prstGeom>
          <a:solidFill>
            <a:srgbClr val="1A0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0"/>
            <a:ext cx="10972800" cy="1097280"/>
          </a:xfrm>
          <a:prstGeom prst="rect">
            <a:avLst/>
          </a:prstGeom>
          <a:noFill/>
        </p:spPr>
        <p:txBody>
          <a:bodyPr wrap="square">
            <a:spAutoFit/>
          </a:bodyPr>
          <a:lstStyle/>
          <a:p>
            <a:pPr algn="l"/>
            <a:r>
              <a:rPr sz="4000" b="1">
                <a:solidFill>
                  <a:srgbClr val="FFFFFF"/>
                </a:solidFill>
                <a:latin typeface="Georgia"/>
              </a:rPr>
              <a:t>Questions</a:t>
            </a:r>
          </a:p>
        </p:txBody>
      </p:sp>
      <p:sp>
        <p:nvSpPr>
          <p:cNvPr id="4" name="TextBox 3"/>
          <p:cNvSpPr txBox="1"/>
          <p:nvPr/>
        </p:nvSpPr>
        <p:spPr>
          <a:xfrm>
            <a:off x="548640" y="3657600"/>
            <a:ext cx="10058400" cy="914400"/>
          </a:xfrm>
          <a:prstGeom prst="rect">
            <a:avLst/>
          </a:prstGeom>
          <a:noFill/>
        </p:spPr>
        <p:txBody>
          <a:bodyPr wrap="square">
            <a:spAutoFit/>
          </a:bodyPr>
          <a:lstStyle/>
          <a:p>
            <a:pPr algn="l">
              <a:spcAft>
                <a:spcPts val="1200"/>
              </a:spcAft>
              <a:defRPr sz="1400" b="0" i="0">
                <a:solidFill>
                  <a:srgbClr val="1E293B"/>
                </a:solidFill>
                <a:latin typeface="Arial"/>
              </a:defRPr>
            </a:pPr>
            <a:r>
              <a:t>The approach log, decisions log, and challenges log are open in the repository:</a:t>
            </a:r>
          </a:p>
          <a:p>
            <a:pPr>
              <a:spcAft>
                <a:spcPts val="0"/>
              </a:spcAft>
              <a:defRPr sz="1600" b="1" i="0">
                <a:solidFill>
                  <a:srgbClr val="0284C7"/>
                </a:solidFill>
                <a:latin typeface="Arial"/>
              </a:defRPr>
            </a:pPr>
            <a:r>
              <a:t>https://github.com/harshal-caa/c2-build1-brief-c-group-2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APPENDIX A</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7 / 8</a:t>
            </a:r>
          </a:p>
        </p:txBody>
      </p:sp>
      <p:pic>
        <p:nvPicPr>
          <p:cNvPr id="5" name="Picture 4" descr="iitgn_seal.png"/>
          <p:cNvPicPr>
            <a:picLocks noChangeAspect="1"/>
          </p:cNvPicPr>
          <p:nvPr/>
        </p:nvPicPr>
        <p:blipFill>
          <a:blip r:embed="rId2"/>
          <a:stretch>
            <a:fillRect/>
          </a:stretch>
        </p:blipFill>
        <p:spPr>
          <a:xfrm>
            <a:off x="457200" y="6263640"/>
            <a:ext cx="411480" cy="411480"/>
          </a:xfrm>
          <a:prstGeom prst="rect">
            <a:avLst/>
          </a:prstGeom>
        </p:spPr>
      </p:pic>
      <p:sp>
        <p:nvSpPr>
          <p:cNvPr id="6"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7" name="TextBox 6"/>
          <p:cNvSpPr txBox="1"/>
          <p:nvPr/>
        </p:nvSpPr>
        <p:spPr>
          <a:xfrm>
            <a:off x="457200" y="640080"/>
            <a:ext cx="11247120" cy="914400"/>
          </a:xfrm>
          <a:prstGeom prst="rect">
            <a:avLst/>
          </a:prstGeom>
          <a:noFill/>
        </p:spPr>
        <p:txBody>
          <a:bodyPr wrap="square">
            <a:spAutoFit/>
          </a:bodyPr>
          <a:lstStyle/>
          <a:p>
            <a:pPr algn="l">
              <a:spcAft>
                <a:spcPts val="600"/>
              </a:spcAft>
              <a:defRPr sz="2400" b="1" i="0">
                <a:solidFill>
                  <a:srgbClr val="0F294A"/>
                </a:solidFill>
                <a:latin typeface="Georgia"/>
              </a:defRPr>
            </a:pPr>
            <a:r>
              <a:t>Appendix A · The decisions that moved the headline</a:t>
            </a:r>
          </a:p>
        </p:txBody>
      </p:sp>
      <p:sp>
        <p:nvSpPr>
          <p:cNvPr id="8" name="TextBox 7"/>
          <p:cNvSpPr txBox="1"/>
          <p:nvPr/>
        </p:nvSpPr>
        <p:spPr>
          <a:xfrm>
            <a:off x="457200" y="1645920"/>
            <a:ext cx="11247120" cy="4206240"/>
          </a:xfrm>
          <a:prstGeom prst="rect">
            <a:avLst/>
          </a:prstGeom>
          <a:noFill/>
        </p:spPr>
        <p:txBody>
          <a:bodyPr wrap="square">
            <a:spAutoFit/>
          </a:bodyPr>
          <a:lstStyle/>
          <a:p>
            <a:pPr algn="l">
              <a:spcAft>
                <a:spcPts val="200"/>
              </a:spcAft>
              <a:defRPr sz="1200" b="1" i="0">
                <a:solidFill>
                  <a:srgbClr val="0F294A"/>
                </a:solidFill>
                <a:latin typeface="Arial"/>
              </a:defRPr>
            </a:pPr>
            <a:r>
              <a:t>Rule 1 · Timestamp Parsing Harmonization:</a:t>
            </a:r>
          </a:p>
          <a:p>
            <a:pPr>
              <a:spcAft>
                <a:spcPts val="800"/>
              </a:spcAft>
              <a:defRPr sz="1050" b="0" i="0">
                <a:solidFill>
                  <a:srgbClr val="1E293B"/>
                </a:solidFill>
                <a:latin typeface="Arial"/>
              </a:defRPr>
            </a:pPr>
            <a:r>
              <a:t>Correcting mixed ISO (+05:30) vs DD/MM/YYYY formats prevented 78,000 legitimate H1 bookings from misclassifying into Jul–Dec.</a:t>
            </a:r>
          </a:p>
          <a:p>
            <a:pPr>
              <a:spcAft>
                <a:spcPts val="200"/>
              </a:spcAft>
              <a:defRPr sz="1200" b="1" i="0">
                <a:solidFill>
                  <a:srgbClr val="0F294A"/>
                </a:solidFill>
                <a:latin typeface="Arial"/>
              </a:defRPr>
            </a:pPr>
            <a:r>
              <a:t>Rule 2 · Nova Duplicate Rescheduled Bookings Filter:</a:t>
            </a:r>
          </a:p>
          <a:p>
            <a:pPr>
              <a:spcAft>
                <a:spcPts val="800"/>
              </a:spcAft>
              <a:defRPr sz="1050" b="0" i="0">
                <a:solidFill>
                  <a:srgbClr val="1E293B"/>
                </a:solidFill>
                <a:latin typeface="Arial"/>
              </a:defRPr>
            </a:pPr>
            <a:r>
              <a:t>Filtered 1,500 rescheduled duplicate rows in Nova (Jaipur &amp; Chennai) which never receive lab results, restoring accurate test fulfilment rates to 83.8%.</a:t>
            </a:r>
          </a:p>
          <a:p>
            <a:pPr>
              <a:spcAft>
                <a:spcPts val="200"/>
              </a:spcAft>
              <a:defRPr sz="1200" b="1" i="0">
                <a:solidFill>
                  <a:srgbClr val="0F294A"/>
                </a:solidFill>
                <a:latin typeface="Arial"/>
              </a:defRPr>
            </a:pPr>
            <a:r>
              <a:t>Rule 3 · 1-to-1 Null Test Code Recovery:</a:t>
            </a:r>
          </a:p>
          <a:p>
            <a:pPr>
              <a:spcAft>
                <a:spcPts val="800"/>
              </a:spcAft>
              <a:defRPr sz="1050" b="0" i="0">
                <a:solidFill>
                  <a:srgbClr val="1E293B"/>
                </a:solidFill>
                <a:latin typeface="Arial"/>
              </a:defRPr>
            </a:pPr>
            <a:r>
              <a:t>Recovered 2,108 null test codes (1,019 in 2025, 1,089 in 2026) by matching unique booked tests on the same booking ID; 94 unrecoverable rows labeled UNKNOWN.</a:t>
            </a:r>
          </a:p>
          <a:p>
            <a:pPr>
              <a:spcAft>
                <a:spcPts val="200"/>
              </a:spcAft>
              <a:defRPr sz="1200" b="1" i="0">
                <a:solidFill>
                  <a:srgbClr val="0F294A"/>
                </a:solidFill>
                <a:latin typeface="Arial"/>
              </a:defRPr>
            </a:pPr>
            <a:r>
              <a:t>Rule 4 · Geographic Standardization:</a:t>
            </a:r>
          </a:p>
          <a:p>
            <a:pPr>
              <a:spcAft>
                <a:spcPts val="0"/>
              </a:spcAft>
              <a:defRPr sz="1050" b="0" i="0">
                <a:solidFill>
                  <a:srgbClr val="1E293B"/>
                </a:solidFill>
                <a:latin typeface="Arial"/>
              </a:defRPr>
            </a:pPr>
            <a:r>
              <a:t>Normalized "Bangalore" to "Bengaluru" and attributed orphan result rows using booking ID city prefixes (e.g. BK-AHM, BK-CHE).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APPENDIX B</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8 / 8</a:t>
            </a:r>
          </a:p>
        </p:txBody>
      </p:sp>
      <p:pic>
        <p:nvPicPr>
          <p:cNvPr id="5" name="Picture 4" descr="iitgn_seal.png"/>
          <p:cNvPicPr>
            <a:picLocks noChangeAspect="1"/>
          </p:cNvPicPr>
          <p:nvPr/>
        </p:nvPicPr>
        <p:blipFill>
          <a:blip r:embed="rId2"/>
          <a:stretch>
            <a:fillRect/>
          </a:stretch>
        </p:blipFill>
        <p:spPr>
          <a:xfrm>
            <a:off x="457200" y="6263640"/>
            <a:ext cx="411480" cy="411480"/>
          </a:xfrm>
          <a:prstGeom prst="rect">
            <a:avLst/>
          </a:prstGeom>
        </p:spPr>
      </p:pic>
      <p:sp>
        <p:nvSpPr>
          <p:cNvPr id="6"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7" name="TextBox 6"/>
          <p:cNvSpPr txBox="1"/>
          <p:nvPr/>
        </p:nvSpPr>
        <p:spPr>
          <a:xfrm>
            <a:off x="457200" y="640080"/>
            <a:ext cx="11247120" cy="914400"/>
          </a:xfrm>
          <a:prstGeom prst="rect">
            <a:avLst/>
          </a:prstGeom>
          <a:noFill/>
        </p:spPr>
        <p:txBody>
          <a:bodyPr wrap="square">
            <a:spAutoFit/>
          </a:bodyPr>
          <a:lstStyle/>
          <a:p>
            <a:pPr algn="l">
              <a:spcAft>
                <a:spcPts val="600"/>
              </a:spcAft>
              <a:defRPr sz="2400" b="1" i="0">
                <a:solidFill>
                  <a:srgbClr val="0F294A"/>
                </a:solidFill>
                <a:latin typeface="Georgia"/>
              </a:defRPr>
            </a:pPr>
            <a:r>
              <a:t>Appendix B · The cold run verification</a:t>
            </a:r>
          </a:p>
        </p:txBody>
      </p:sp>
      <p:sp>
        <p:nvSpPr>
          <p:cNvPr id="8" name="TextBox 7"/>
          <p:cNvSpPr txBox="1"/>
          <p:nvPr/>
        </p:nvSpPr>
        <p:spPr>
          <a:xfrm>
            <a:off x="457200" y="1645920"/>
            <a:ext cx="11247120" cy="4206240"/>
          </a:xfrm>
          <a:prstGeom prst="rect">
            <a:avLst/>
          </a:prstGeom>
          <a:noFill/>
        </p:spPr>
        <p:txBody>
          <a:bodyPr wrap="square">
            <a:spAutoFit/>
          </a:bodyPr>
          <a:lstStyle/>
          <a:p>
            <a:pPr algn="l">
              <a:spcAft>
                <a:spcPts val="400"/>
              </a:spcAft>
              <a:defRPr sz="1200" b="1" i="0">
                <a:solidFill>
                  <a:srgbClr val="0F294A"/>
                </a:solidFill>
                <a:latin typeface="Arial"/>
              </a:defRPr>
            </a:pPr>
            <a:r>
              <a:t>Test Environment: Fresh GitHub Codespace / local Python 3.12+ execution</a:t>
            </a:r>
          </a:p>
          <a:p>
            <a:pPr>
              <a:spcAft>
                <a:spcPts val="600"/>
              </a:spcAft>
              <a:defRPr sz="1100" b="0" i="0">
                <a:solidFill>
                  <a:srgbClr val="1E293B"/>
                </a:solidFill>
                <a:latin typeface="Arial"/>
              </a:defRPr>
            </a:pPr>
            <a:r>
              <a:t>Runtime: 2 min 45 sec for full pipeline ingestion, cleaning, and reconciliation</a:t>
            </a:r>
          </a:p>
          <a:p>
            <a:pPr>
              <a:spcAft>
                <a:spcPts val="600"/>
              </a:spcAft>
              <a:defRPr sz="1100" b="1" i="0">
                <a:solidFill>
                  <a:srgbClr val="15803D"/>
                </a:solidFill>
                <a:latin typeface="Arial"/>
              </a:defRPr>
            </a:pPr>
            <a:r>
              <a:t>Headline Number: +5.75% (H1 2025: 357,769 -&gt; H1 2026: 378,358 rows), exact match</a:t>
            </a:r>
          </a:p>
          <a:p>
            <a:pPr>
              <a:spcAft>
                <a:spcPts val="600"/>
              </a:spcAft>
              <a:defRPr sz="1100" b="0" i="0">
                <a:solidFill>
                  <a:srgbClr val="1E293B"/>
                </a:solidFill>
                <a:latin typeface="Arial"/>
              </a:defRPr>
            </a:pPr>
            <a:r>
              <a:t>Mathematical Reconciliation: Multiplicative tree error = 0.000%; channel contribution sum = 5.75 pp</a:t>
            </a:r>
          </a:p>
          <a:p>
            <a:pPr>
              <a:spcAft>
                <a:spcPts val="0"/>
              </a:spcAft>
              <a:defRPr sz="1100" b="0" i="0">
                <a:solidFill>
                  <a:srgbClr val="334155"/>
                </a:solidFill>
                <a:latin typeface="Arial"/>
              </a:defRPr>
            </a:pPr>
            <a:r>
              <a:t>Git Tracking: Branch harshal_branch | Commit verified &amp; reproducible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