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Arimo"/>
      <p:regular r:id="rId201314"/>
    </p:embeddedFont>
    <p:embeddedFont>
      <p:font typeface="Arimo Bold"/>
      <p:regular r:id="rId201315"/>
    </p:embeddedFont>
    <p:embeddedFont>
      <p:font typeface="Gelasio"/>
      <p:regular r:id="rId201316"/>
    </p:embeddedFont>
    <p:embeddedFont>
      <p:font typeface="Gelasio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question and the claim, nothing else. Twenty seconds. The cover is read, not 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Her words first, then the translation in one line, then the decision. If the panel does not know what decision hangs on your answer by the end of this slide, nothing after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Point at two numbers on the picture, the two that carry the claim. Do not read the diagram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sentence. Stop. Count to two. The silence is the point; the slide has one sentence on it so the room reads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Each number with its denominator, said aloud. Point at the chart's axis label where the denominator is written. This is the slide the finance controller checks against the decisions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One caveat, chosen, with its size. One rejected alternative from the approach log. This slide is where the panel decides whether you thought or just computed.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End on the cost of being wrong. No thanks, no summary, no inspirational closing line. Then say 'questions' and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questions. When asked 'why this and not that', open the approach-log row on screen rather than answering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shown only if the panel asks. Do not present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shown only if the panel asks. Do not present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1A0F5C"/>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FFFFF"/>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1A0F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0F5C"/>
          </a:solidFill>
          <a:ln/>
        </p:spPr>
      </p:sp>
      <p:pic>
        <p:nvPicPr>
          <p:cNvPr id="3"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3-2.jpe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5-2.jpe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567" y="457200"/>
            <a:ext cx="914377" cy="914400"/>
          </a:xfrm>
          <a:prstGeom prst="rect">
            <a:avLst/>
          </a:prstGeom>
        </p:spPr>
      </p:pic>
      <p:sp>
        <p:nvSpPr>
          <p:cNvPr id="3" name="Text 0"/>
          <p:cNvSpPr/>
          <p:nvPr/>
        </p:nvSpPr>
        <p:spPr>
          <a:xfrm>
            <a:off x="1592223" y="542230"/>
            <a:ext cx="9393201" cy="167580"/>
          </a:xfrm>
          <a:prstGeom prst="rect">
            <a:avLst/>
          </a:prstGeom>
          <a:noFill/>
          <a:ln/>
        </p:spPr>
        <p:txBody>
          <a:bodyPr wrap="none" lIns="145031" tIns="0" rIns="1120998" bIns="0" rtlCol="0" anchor="t"/>
          <a:lstStyle/>
          <a:p>
            <a:pPr algn="l" indent="0" marL="0">
              <a:lnSpc>
                <a:spcPct val="100000"/>
              </a:lnSpc>
              <a:buNone/>
            </a:pPr>
            <a:r>
              <a:rPr lang="en-US" sz="1100" b="1" dirty="0">
                <a:solidFill>
                  <a:srgbClr val="FFFFFF"/>
                </a:solidFill>
                <a:latin typeface="Arimo Bold" pitchFamily="34" charset="0"/>
                <a:ea typeface="Arimo Bold" pitchFamily="34" charset="-122"/>
                <a:cs typeface="Arimo Bold" pitchFamily="34" charset="0"/>
              </a:rPr>
              <a:t>INDIAN INSTITUTE OF TECHNOLOGY GANDHINAGAR</a:t>
            </a:r>
            <a:endParaRPr lang="en-US" sz="1100" dirty="0"/>
          </a:p>
        </p:txBody>
      </p:sp>
      <p:sp>
        <p:nvSpPr>
          <p:cNvPr id="4" name="Text 1"/>
          <p:cNvSpPr/>
          <p:nvPr/>
        </p:nvSpPr>
        <p:spPr>
          <a:xfrm>
            <a:off x="1592223" y="907852"/>
            <a:ext cx="9393201" cy="167580"/>
          </a:xfrm>
          <a:prstGeom prst="rect">
            <a:avLst/>
          </a:prstGeom>
          <a:noFill/>
          <a:ln/>
        </p:spPr>
        <p:txBody>
          <a:bodyPr wrap="none" lIns="145031" tIns="0" rIns="1120998" bIns="0" rtlCol="0" anchor="t"/>
          <a:lstStyle/>
          <a:p>
            <a:pPr algn="l" indent="0" marL="0">
              <a:lnSpc>
                <a:spcPct val="100000"/>
              </a:lnSpc>
              <a:buNone/>
            </a:pPr>
            <a:r>
              <a:rPr lang="en-US" sz="1100" dirty="0">
                <a:solidFill>
                  <a:srgbClr val="D9A7FF"/>
                </a:solidFill>
                <a:latin typeface="Arimo" pitchFamily="34" charset="0"/>
                <a:ea typeface="Arimo" pitchFamily="34" charset="-122"/>
                <a:cs typeface="Arimo" pitchFamily="34" charset="0"/>
              </a:rPr>
              <a:t>PG Diploma in AI-ML and Agentic AI Engineering · Cohort 2 · Build 1</a:t>
            </a:r>
            <a:endParaRPr lang="en-US" sz="1100" dirty="0"/>
          </a:p>
        </p:txBody>
      </p:sp>
      <p:sp>
        <p:nvSpPr>
          <p:cNvPr id="5" name="Text 2"/>
          <p:cNvSpPr/>
          <p:nvPr/>
        </p:nvSpPr>
        <p:spPr>
          <a:xfrm>
            <a:off x="548567" y="2233910"/>
            <a:ext cx="11046442" cy="167580"/>
          </a:xfrm>
          <a:prstGeom prst="rect">
            <a:avLst/>
          </a:prstGeom>
          <a:noFill/>
          <a:ln/>
        </p:spPr>
        <p:txBody>
          <a:bodyPr wrap="none" lIns="91438" tIns="0" rIns="0" bIns="0" rtlCol="0" anchor="t"/>
          <a:lstStyle/>
          <a:p>
            <a:pPr algn="l" indent="0" marL="0">
              <a:lnSpc>
                <a:spcPct val="100000"/>
              </a:lnSpc>
              <a:buNone/>
            </a:pPr>
            <a:r>
              <a:rPr lang="en-US" sz="1100" b="1" dirty="0">
                <a:solidFill>
                  <a:srgbClr val="0284C7"/>
                </a:solidFill>
                <a:latin typeface="Arimo Bold" pitchFamily="34" charset="0"/>
                <a:ea typeface="Arimo Bold" pitchFamily="34" charset="-122"/>
                <a:cs typeface="Arimo Bold" pitchFamily="34" charset="0"/>
              </a:rPr>
              <a:t>BRIEF A · GROWTH H1 2025 vs H1 2026 · GROUP 2</a:t>
            </a:r>
            <a:endParaRPr lang="en-US" sz="1100" dirty="0"/>
          </a:p>
        </p:txBody>
      </p:sp>
      <p:sp>
        <p:nvSpPr>
          <p:cNvPr id="6" name="Text 3"/>
          <p:cNvSpPr/>
          <p:nvPr/>
        </p:nvSpPr>
        <p:spPr>
          <a:xfrm>
            <a:off x="639945" y="2602309"/>
            <a:ext cx="10881247" cy="1036241"/>
          </a:xfrm>
          <a:prstGeom prst="rect">
            <a:avLst/>
          </a:prstGeom>
          <a:noFill/>
          <a:ln/>
        </p:spPr>
        <p:txBody>
          <a:bodyPr wrap="square" lIns="0" tIns="0" rIns="0" bIns="0" rtlCol="0" anchor="t">
            <a:normAutofit/>
          </a:bodyPr>
          <a:lstStyle/>
          <a:p>
            <a:pPr algn="l" indent="0" marL="0">
              <a:lnSpc>
                <a:spcPct val="100000"/>
              </a:lnSpc>
              <a:buNone/>
            </a:pPr>
            <a:r>
              <a:rPr lang="en-US" sz="3400" b="1" dirty="0">
                <a:solidFill>
                  <a:srgbClr val="808080"/>
                </a:solidFill>
                <a:latin typeface="Gelasio Bold" pitchFamily="34" charset="0"/>
                <a:ea typeface="Gelasio Bold" pitchFamily="34" charset="-122"/>
                <a:cs typeface="Gelasio Bold" pitchFamily="34" charset="0"/>
              </a:rPr>
              <a:t>Where Did the Growth Come From — and Why Did Jaipur and Chennai Lag?</a:t>
            </a:r>
            <a:endParaRPr lang="en-US" sz="3400" dirty="0"/>
          </a:p>
        </p:txBody>
      </p:sp>
      <p:sp>
        <p:nvSpPr>
          <p:cNvPr id="7" name="Text 4"/>
          <p:cNvSpPr/>
          <p:nvPr/>
        </p:nvSpPr>
        <p:spPr>
          <a:xfrm>
            <a:off x="639945" y="4245273"/>
            <a:ext cx="9966869" cy="639961"/>
          </a:xfrm>
          <a:prstGeom prst="rect">
            <a:avLst/>
          </a:prstGeom>
          <a:noFill/>
          <a:ln/>
        </p:spPr>
        <p:txBody>
          <a:bodyPr wrap="square" lIns="0" tIns="0" rIns="0" bIns="0" rtlCol="0" anchor="t">
            <a:normAutofit/>
          </a:bodyPr>
          <a:lstStyle/>
          <a:p>
            <a:pPr algn="l" indent="0" marL="0">
              <a:lnSpc>
                <a:spcPct val="100000"/>
              </a:lnSpc>
              <a:buNone/>
            </a:pPr>
            <a:r>
              <a:rPr lang="en-US" sz="1400" dirty="0">
                <a:solidFill>
                  <a:srgbClr val="808080"/>
                </a:solidFill>
                <a:latin typeface="Arimo" pitchFamily="34" charset="0"/>
                <a:ea typeface="Arimo" pitchFamily="34" charset="-122"/>
                <a:cs typeface="Arimo" pitchFamily="34" charset="0"/>
              </a:rPr>
              <a:t>Test results grew 5.75% from H1 2025 to H1 2026 (357,769 to 378,358 rows).</a:t>
            </a:r>
            <a:endParaRPr lang="en-US" sz="1400" dirty="0"/>
          </a:p>
          <a:p>
            <a:pPr algn="l" indent="0" marL="0">
              <a:lnSpc>
                <a:spcPct val="100000"/>
              </a:lnSpc>
              <a:buNone/>
            </a:pPr>
            <a:r>
              <a:rPr lang="en-US" sz="1400" dirty="0">
                <a:solidFill>
                  <a:srgbClr val="808080"/>
                </a:solidFill>
                <a:latin typeface="Arimo" pitchFamily="34" charset="0"/>
                <a:ea typeface="Arimo" pitchFamily="34" charset="-122"/>
                <a:cs typeface="Arimo" pitchFamily="34" charset="0"/>
              </a:rPr>
              <a:t>Growth was driven by a 37.7% rise in home collection and 35.2% package test adoption.</a:t>
            </a:r>
            <a:endParaRPr lang="en-US" sz="1400" dirty="0"/>
          </a:p>
          <a:p>
            <a:pPr algn="l" indent="0" marL="0">
              <a:lnSpc>
                <a:spcPct val="100000"/>
              </a:lnSpc>
              <a:buNone/>
            </a:pPr>
            <a:r>
              <a:rPr lang="en-US" sz="1400" dirty="0">
                <a:solidFill>
                  <a:srgbClr val="808080"/>
                </a:solidFill>
                <a:latin typeface="Arimo" pitchFamily="34" charset="0"/>
                <a:ea typeface="Arimo" pitchFamily="34" charset="-122"/>
                <a:cs typeface="Arimo" pitchFamily="34" charset="0"/>
              </a:rPr>
              <a:t>Clinic results declined 12.1%, and patient acquisition lagged in Jaipur (-9.9%) and Chennai (+1.3%).</a:t>
            </a:r>
            <a:endParaRPr lang="en-US" sz="1400" dirty="0"/>
          </a:p>
        </p:txBody>
      </p:sp>
      <p:sp>
        <p:nvSpPr>
          <p:cNvPr id="8" name="Text 5"/>
          <p:cNvSpPr/>
          <p:nvPr/>
        </p:nvSpPr>
        <p:spPr>
          <a:xfrm>
            <a:off x="548567" y="5891113"/>
            <a:ext cx="11046442" cy="182860"/>
          </a:xfrm>
          <a:prstGeom prst="rect">
            <a:avLst/>
          </a:prstGeom>
          <a:noFill/>
          <a:ln/>
        </p:spPr>
        <p:txBody>
          <a:bodyPr wrap="none" lIns="91438" tIns="0" rIns="0" bIns="0" rtlCol="0" anchor="t"/>
          <a:lstStyle/>
          <a:p>
            <a:pPr algn="l" indent="0" marL="0">
              <a:lnSpc>
                <a:spcPct val="100000"/>
              </a:lnSpc>
              <a:buNone/>
            </a:pPr>
            <a:r>
              <a:rPr lang="en-US" sz="1200" b="1" dirty="0">
                <a:solidFill>
                  <a:srgbClr val="808080"/>
                </a:solidFill>
                <a:latin typeface="Arimo Bold" pitchFamily="34" charset="0"/>
                <a:ea typeface="Arimo Bold" pitchFamily="34" charset="-122"/>
                <a:cs typeface="Arimo Bold" pitchFamily="34" charset="0"/>
              </a:rPr>
              <a:t>Kshitij Chhabariya · Gaurang Khandelwal · Harshal Patil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397" cy="73124"/>
          </a:xfrm>
          <a:prstGeom prst="roundRect">
            <a:avLst>
              <a:gd name="adj" fmla="val 9587"/>
            </a:avLst>
          </a:prstGeom>
          <a:solidFill>
            <a:srgbClr val="4E38AB"/>
          </a:solidFill>
          <a:ln/>
          <a:effectLst>
            <a:outerShdw sx="100000" sy="100000" kx="0" ky="0" algn="bl" rotWithShape="0" blurRad="39370" dist="22860" dir="5400000">
              <a:srgbClr val="000000">
                <a:alpha val="30000"/>
              </a:srgbClr>
            </a:outerShdw>
          </a:effectLst>
        </p:spPr>
      </p:sp>
      <p:sp>
        <p:nvSpPr>
          <p:cNvPr id="3" name="Text 1"/>
          <p:cNvSpPr/>
          <p:nvPr/>
        </p:nvSpPr>
        <p:spPr>
          <a:xfrm>
            <a:off x="548567" y="274241"/>
            <a:ext cx="7813182" cy="190500"/>
          </a:xfrm>
          <a:prstGeom prst="rect">
            <a:avLst/>
          </a:prstGeom>
          <a:noFill/>
          <a:ln/>
        </p:spPr>
        <p:txBody>
          <a:bodyPr wrap="none" lIns="0" tIns="0" rIns="0" bIns="0" rtlCol="0" anchor="t"/>
          <a:lstStyle/>
          <a:p>
            <a:pPr algn="l" indent="0" marL="0">
              <a:lnSpc>
                <a:spcPct val="125000"/>
              </a:lnSpc>
              <a:buNone/>
            </a:pPr>
            <a:r>
              <a:rPr lang="en-US" sz="1000" b="1" dirty="0">
                <a:solidFill>
                  <a:srgbClr val="4E38AB"/>
                </a:solidFill>
                <a:latin typeface="Arimo Bold" pitchFamily="34" charset="0"/>
                <a:ea typeface="Arimo Bold" pitchFamily="34" charset="-122"/>
                <a:cs typeface="Arimo Bold" pitchFamily="34" charset="0"/>
              </a:rPr>
              <a:t>1 · THE QUESTION</a:t>
            </a:r>
            <a:endParaRPr lang="en-US" sz="1000" dirty="0"/>
          </a:p>
        </p:txBody>
      </p:sp>
      <p:sp>
        <p:nvSpPr>
          <p:cNvPr id="4" name="Text 2"/>
          <p:cNvSpPr/>
          <p:nvPr/>
        </p:nvSpPr>
        <p:spPr>
          <a:xfrm>
            <a:off x="9814176" y="274241"/>
            <a:ext cx="1924002" cy="190500"/>
          </a:xfrm>
          <a:prstGeom prst="rect">
            <a:avLst/>
          </a:prstGeom>
          <a:noFill/>
          <a:ln/>
        </p:spPr>
        <p:txBody>
          <a:bodyPr wrap="none" lIns="0" tIns="0" rIns="0" bIns="0" rtlCol="0" anchor="t"/>
          <a:lstStyle/>
          <a:p>
            <a:pPr algn="r" indent="0" marL="0">
              <a:lnSpc>
                <a:spcPct val="125000"/>
              </a:lnSpc>
              <a:buNone/>
            </a:pPr>
            <a:r>
              <a:rPr lang="en-US" sz="1000" dirty="0">
                <a:solidFill>
                  <a:srgbClr val="6B6690"/>
                </a:solidFill>
                <a:latin typeface="Arimo" pitchFamily="34" charset="0"/>
                <a:ea typeface="Arimo" pitchFamily="34" charset="-122"/>
                <a:cs typeface="Arimo" pitchFamily="34" charset="0"/>
              </a:rPr>
              <a:t>1 / 6</a:t>
            </a:r>
            <a:endParaRPr lang="en-US" sz="1000" dirty="0"/>
          </a:p>
        </p:txBody>
      </p:sp>
      <p:pic>
        <p:nvPicPr>
          <p:cNvPr id="5" name="Image 0" descr="preencoded.png">    </p:cNvPr>
          <p:cNvPicPr>
            <a:picLocks noChangeAspect="1"/>
          </p:cNvPicPr>
          <p:nvPr/>
        </p:nvPicPr>
        <p:blipFill>
          <a:blip r:embed="rId1"/>
          <a:stretch>
            <a:fillRect/>
          </a:stretch>
        </p:blipFill>
        <p:spPr>
          <a:xfrm>
            <a:off x="457189" y="6263580"/>
            <a:ext cx="411450" cy="411460"/>
          </a:xfrm>
          <a:prstGeom prst="rect">
            <a:avLst/>
          </a:prstGeom>
        </p:spPr>
      </p:pic>
      <p:sp>
        <p:nvSpPr>
          <p:cNvPr id="6" name="Text 3"/>
          <p:cNvSpPr/>
          <p:nvPr/>
        </p:nvSpPr>
        <p:spPr>
          <a:xfrm>
            <a:off x="1051395" y="6355060"/>
            <a:ext cx="9660291" cy="152400"/>
          </a:xfrm>
          <a:prstGeom prst="rect">
            <a:avLst/>
          </a:prstGeom>
          <a:noFill/>
          <a:ln/>
        </p:spPr>
        <p:txBody>
          <a:bodyPr wrap="none" lIns="0" tIns="0" rIns="0" bIns="0" rtlCol="0" anchor="t"/>
          <a:lstStyle/>
          <a:p>
            <a:pPr algn="l" indent="0" marL="0">
              <a:lnSpc>
                <a:spcPct val="125000"/>
              </a:lnSpc>
              <a:buNone/>
            </a:pPr>
            <a:r>
              <a:rPr lang="en-US" sz="800" dirty="0">
                <a:solidFill>
                  <a:srgbClr val="6B6690"/>
                </a:solidFill>
                <a:latin typeface="Arimo" pitchFamily="34" charset="0"/>
                <a:ea typeface="Arimo" pitchFamily="34" charset="-122"/>
                <a:cs typeface="Arimo" pitchFamily="34" charset="0"/>
              </a:rPr>
              <a:t>Indian Institute of Technology Gandhinagar · PG Diploma in AI-ML and Agentic AI Engineering · Cohort 2 · Build 1</a:t>
            </a:r>
            <a:endParaRPr lang="en-US" sz="800" dirty="0"/>
          </a:p>
        </p:txBody>
      </p:sp>
      <p:sp>
        <p:nvSpPr>
          <p:cNvPr id="7" name="Text 4"/>
          <p:cNvSpPr/>
          <p:nvPr/>
        </p:nvSpPr>
        <p:spPr>
          <a:xfrm>
            <a:off x="548567" y="613073"/>
            <a:ext cx="11155381" cy="396180"/>
          </a:xfrm>
          <a:prstGeom prst="rect">
            <a:avLst/>
          </a:prstGeom>
          <a:noFill/>
          <a:ln/>
        </p:spPr>
        <p:txBody>
          <a:bodyPr wrap="none" lIns="0" tIns="0" rIns="0" bIns="0" rtlCol="0" anchor="t"/>
          <a:lstStyle/>
          <a:p>
            <a:pPr algn="l" indent="0" marL="0">
              <a:lnSpc>
                <a:spcPct val="100000"/>
              </a:lnSpc>
              <a:buNone/>
            </a:pPr>
            <a:r>
              <a:rPr lang="en-US" sz="2600" b="1" dirty="0">
                <a:solidFill>
                  <a:srgbClr val="0F294A"/>
                </a:solidFill>
                <a:latin typeface="Gelasio Bold" pitchFamily="34" charset="0"/>
                <a:ea typeface="Gelasio Bold" pitchFamily="34" charset="-122"/>
                <a:cs typeface="Gelasio Bold" pitchFamily="34" charset="0"/>
              </a:rPr>
              <a:t>Dr Menon's words, and our translation</a:t>
            </a:r>
            <a:endParaRPr lang="en-US" sz="2600" dirty="0"/>
          </a:p>
        </p:txBody>
      </p:sp>
      <p:sp>
        <p:nvSpPr>
          <p:cNvPr id="8" name="Text 5"/>
          <p:cNvSpPr/>
          <p:nvPr/>
        </p:nvSpPr>
        <p:spPr>
          <a:xfrm>
            <a:off x="548567" y="1692850"/>
            <a:ext cx="11643128" cy="198041"/>
          </a:xfrm>
          <a:prstGeom prst="rect">
            <a:avLst/>
          </a:prstGeom>
          <a:noFill/>
          <a:ln/>
        </p:spPr>
        <p:txBody>
          <a:bodyPr wrap="none" lIns="0" tIns="0" rIns="0" bIns="0" rtlCol="0" anchor="t"/>
          <a:lstStyle/>
          <a:p>
            <a:pPr algn="l" indent="0" marL="0">
              <a:lnSpc>
                <a:spcPct val="100000"/>
              </a:lnSpc>
              <a:buNone/>
            </a:pPr>
            <a:r>
              <a:rPr lang="en-US" sz="1300" b="1" dirty="0">
                <a:solidFill>
                  <a:srgbClr val="0F294A"/>
                </a:solidFill>
                <a:latin typeface="Arimo Bold" pitchFamily="34" charset="0"/>
                <a:ea typeface="Arimo Bold" pitchFamily="34" charset="-122"/>
                <a:cs typeface="Arimo Bold" pitchFamily="34" charset="0"/>
              </a:rPr>
              <a:t>Her words:</a:t>
            </a:r>
            <a:endParaRPr lang="en-US" sz="1300" dirty="0"/>
          </a:p>
        </p:txBody>
      </p:sp>
      <p:sp>
        <p:nvSpPr>
          <p:cNvPr id="9" name="Text 6"/>
          <p:cNvSpPr/>
          <p:nvPr/>
        </p:nvSpPr>
        <p:spPr>
          <a:xfrm>
            <a:off x="548567" y="1890891"/>
            <a:ext cx="11098233" cy="830064"/>
          </a:xfrm>
          <a:prstGeom prst="rect">
            <a:avLst/>
          </a:prstGeom>
          <a:noFill/>
          <a:ln/>
        </p:spPr>
        <p:txBody>
          <a:bodyPr wrap="square" lIns="0" tIns="37972" rIns="0" bIns="0" rtlCol="0" anchor="t">
            <a:normAutofit/>
          </a:bodyPr>
          <a:lstStyle/>
          <a:p>
            <a:pPr algn="l" indent="0" marL="0">
              <a:lnSpc>
                <a:spcPct val="100000"/>
              </a:lnSpc>
              <a:buNone/>
            </a:pPr>
            <a:r>
              <a:rPr lang="en-US" sz="1300" i="1" dirty="0">
                <a:solidFill>
                  <a:srgbClr val="1E293B"/>
                </a:solidFill>
                <a:latin typeface="Arimo" pitchFamily="34" charset="0"/>
                <a:ea typeface="Arimo" pitchFamily="34" charset="-122"/>
                <a:cs typeface="Arimo" pitchFamily="34" charset="0"/>
              </a:rPr>
              <a:t>“We grew 5% in H1 2026, but I need to know where that growth came from. Is it new patients or existing ones coming back? Are clinics driving it or home collection? And why are Jaipur and Chennai missing their targets?”</a:t>
            </a:r>
            <a:endParaRPr lang="en-US" sz="1300" dirty="0"/>
          </a:p>
          <a:p>
            <a:pPr algn="l" indent="0" marL="0">
              <a:lnSpc>
                <a:spcPct val="100000"/>
              </a:lnSpc>
              <a:buNone/>
            </a:pPr>
            <a:r>
              <a:rPr lang="en-US" sz="1300" dirty="0">
                <a:solidFill>
                  <a:srgbClr val="6B6690"/>
                </a:solidFill>
                <a:latin typeface="Arimo" pitchFamily="34" charset="0"/>
                <a:ea typeface="Arimo" pitchFamily="34" charset="-122"/>
                <a:cs typeface="Arimo" pitchFamily="34" charset="0"/>
              </a:rPr>
              <a:t> </a:t>
            </a:r>
            <a:endParaRPr lang="en-US" sz="1300" dirty="0"/>
          </a:p>
          <a:p>
            <a:pPr algn="l" indent="0" marL="0">
              <a:lnSpc>
                <a:spcPct val="100000"/>
              </a:lnSpc>
              <a:buNone/>
            </a:pPr>
            <a:r>
              <a:rPr lang="en-US" sz="1300" b="1" dirty="0">
                <a:solidFill>
                  <a:srgbClr val="0F294A"/>
                </a:solidFill>
                <a:latin typeface="Arimo Bold" pitchFamily="34" charset="0"/>
                <a:ea typeface="Arimo Bold" pitchFamily="34" charset="-122"/>
                <a:cs typeface="Arimo Bold" pitchFamily="34" charset="0"/>
              </a:rPr>
              <a:t>Our translation:</a:t>
            </a:r>
            <a:endParaRPr lang="en-US" sz="1300" dirty="0"/>
          </a:p>
        </p:txBody>
      </p:sp>
      <p:sp>
        <p:nvSpPr>
          <p:cNvPr id="10" name="Text 7"/>
          <p:cNvSpPr/>
          <p:nvPr/>
        </p:nvSpPr>
        <p:spPr>
          <a:xfrm>
            <a:off x="548567" y="2713335"/>
            <a:ext cx="11098233" cy="769541"/>
          </a:xfrm>
          <a:prstGeom prst="rect">
            <a:avLst/>
          </a:prstGeom>
          <a:noFill/>
          <a:ln/>
        </p:spPr>
        <p:txBody>
          <a:bodyPr wrap="square" lIns="0" tIns="38099" rIns="0" bIns="0" rtlCol="0" anchor="t">
            <a:normAutofit/>
          </a:bodyPr>
          <a:lstStyle/>
          <a:p>
            <a:pPr algn="l" indent="0" marL="0">
              <a:lnSpc>
                <a:spcPct val="100000"/>
              </a:lnSpc>
              <a:buNone/>
            </a:pPr>
            <a:r>
              <a:rPr lang="en-US" sz="1200" dirty="0">
                <a:solidFill>
                  <a:srgbClr val="1E293B"/>
                </a:solidFill>
                <a:latin typeface="Arimo" pitchFamily="34" charset="0"/>
                <a:ea typeface="Arimo" pitchFamily="34" charset="-122"/>
                <a:cs typeface="Arimo" pitchFamily="34" charset="0"/>
              </a:rPr>
              <a:t>Growth Tree: Results = Patients × Visits/Patient × Tests/Visit × Results/Test Booked</a:t>
            </a:r>
            <a:endParaRPr lang="en-US" sz="1200" dirty="0"/>
          </a:p>
          <a:p>
            <a:pPr algn="l" indent="0" marL="0">
              <a:lnSpc>
                <a:spcPct val="100000"/>
              </a:lnSpc>
              <a:buNone/>
            </a:pPr>
            <a:r>
              <a:rPr lang="en-US" sz="1200" dirty="0">
                <a:solidFill>
                  <a:srgbClr val="1E293B"/>
                </a:solidFill>
                <a:latin typeface="Arimo" pitchFamily="34" charset="0"/>
                <a:ea typeface="Arimo" pitchFamily="34" charset="-122"/>
                <a:cs typeface="Arimo" pitchFamily="34" charset="0"/>
              </a:rPr>
              <a:t>Channel shift: Home +13.5 pp vs Clinic -7.7 pp</a:t>
            </a:r>
            <a:endParaRPr lang="en-US" sz="1200" dirty="0"/>
          </a:p>
          <a:p>
            <a:pPr algn="l" indent="0" marL="0">
              <a:lnSpc>
                <a:spcPct val="100000"/>
              </a:lnSpc>
              <a:buNone/>
            </a:pPr>
            <a:r>
              <a:rPr lang="en-US" sz="1200" dirty="0">
                <a:solidFill>
                  <a:srgbClr val="1E293B"/>
                </a:solidFill>
                <a:latin typeface="Arimo" pitchFamily="34" charset="0"/>
                <a:ea typeface="Arimo" pitchFamily="34" charset="-122"/>
                <a:cs typeface="Arimo" pitchFamily="34" charset="0"/>
              </a:rPr>
              <a:t>Package expansion: 12.5% to 15.9% share</a:t>
            </a:r>
            <a:endParaRPr lang="en-US" sz="1200" dirty="0"/>
          </a:p>
          <a:p>
            <a:pPr algn="l" indent="0" marL="0">
              <a:lnSpc>
                <a:spcPct val="100000"/>
              </a:lnSpc>
              <a:buNone/>
            </a:pPr>
            <a:r>
              <a:rPr lang="en-US" sz="1200" dirty="0">
                <a:solidFill>
                  <a:srgbClr val="1E293B"/>
                </a:solidFill>
                <a:latin typeface="Arimo" pitchFamily="34" charset="0"/>
                <a:ea typeface="Arimo" pitchFamily="34" charset="-122"/>
                <a:cs typeface="Arimo" pitchFamily="34" charset="0"/>
              </a:rPr>
              <a:t>Plan attainment across all six cities</a:t>
            </a:r>
            <a:endParaRPr lang="en-US" sz="1200" dirty="0"/>
          </a:p>
        </p:txBody>
      </p:sp>
      <p:sp>
        <p:nvSpPr>
          <p:cNvPr id="11" name="Text 8"/>
          <p:cNvSpPr/>
          <p:nvPr/>
        </p:nvSpPr>
        <p:spPr>
          <a:xfrm>
            <a:off x="548567" y="3490496"/>
            <a:ext cx="11098233" cy="349845"/>
          </a:xfrm>
          <a:prstGeom prst="rect">
            <a:avLst/>
          </a:prstGeom>
          <a:noFill/>
          <a:ln/>
        </p:spPr>
        <p:txBody>
          <a:bodyPr wrap="square" lIns="0" tIns="151889" rIns="0" bIns="0" rtlCol="0" anchor="t">
            <a:normAutofit/>
          </a:bodyPr>
          <a:lstStyle/>
          <a:p>
            <a:pPr algn="l" indent="0" marL="0">
              <a:lnSpc>
                <a:spcPct val="100000"/>
              </a:lnSpc>
              <a:buNone/>
            </a:pPr>
            <a:r>
              <a:rPr lang="en-US" sz="1300" b="1" dirty="0">
                <a:solidFill>
                  <a:srgbClr val="0F294A"/>
                </a:solidFill>
                <a:latin typeface="Arimo Bold" pitchFamily="34" charset="0"/>
                <a:ea typeface="Arimo Bold" pitchFamily="34" charset="-122"/>
                <a:cs typeface="Arimo Bold" pitchFamily="34" charset="0"/>
              </a:rPr>
              <a:t>The decision it drives:</a:t>
            </a:r>
            <a:endParaRPr lang="en-US" sz="1300" dirty="0"/>
          </a:p>
        </p:txBody>
      </p:sp>
      <p:sp>
        <p:nvSpPr>
          <p:cNvPr id="12" name="Text 9"/>
          <p:cNvSpPr/>
          <p:nvPr/>
        </p:nvSpPr>
        <p:spPr>
          <a:xfrm>
            <a:off x="548567" y="3832721"/>
            <a:ext cx="11098233" cy="403820"/>
          </a:xfrm>
          <a:prstGeom prst="rect">
            <a:avLst/>
          </a:prstGeom>
          <a:noFill/>
          <a:ln/>
        </p:spPr>
        <p:txBody>
          <a:bodyPr wrap="square" lIns="0" tIns="38099" rIns="0" bIns="0" rtlCol="0" anchor="t">
            <a:normAutofit/>
          </a:bodyPr>
          <a:lstStyle/>
          <a:p>
            <a:pPr algn="l" indent="0" marL="0">
              <a:lnSpc>
                <a:spcPct val="100000"/>
              </a:lnSpc>
              <a:buNone/>
            </a:pPr>
            <a:r>
              <a:rPr lang="en-US" sz="1200" dirty="0">
                <a:solidFill>
                  <a:srgbClr val="1E293B"/>
                </a:solidFill>
                <a:latin typeface="Arimo" pitchFamily="34" charset="0"/>
                <a:ea typeface="Arimo" pitchFamily="34" charset="-122"/>
                <a:cs typeface="Arimo" pitchFamily="34" charset="0"/>
              </a:rPr>
              <a:t>Fleet capital reallocation toward scaling home phlebotomy capacity (+37.7% growth), versus consolidating clinic overheads (-12.1%)</a:t>
            </a:r>
            <a:endParaRPr lang="en-US" sz="1200" dirty="0"/>
          </a:p>
          <a:p>
            <a:pPr algn="l" indent="0" marL="0">
              <a:lnSpc>
                <a:spcPct val="100000"/>
              </a:lnSpc>
              <a:buNone/>
            </a:pPr>
            <a:r>
              <a:rPr lang="en-US" sz="1200" dirty="0">
                <a:solidFill>
                  <a:srgbClr val="1E293B"/>
                </a:solidFill>
                <a:latin typeface="Arimo" pitchFamily="34" charset="0"/>
                <a:ea typeface="Arimo" pitchFamily="34" charset="-122"/>
                <a:cs typeface="Arimo" pitchFamily="34" charset="0"/>
              </a:rPr>
              <a:t>Restructuring commercial patient acquisition in lagging markets (Jaipur -9.9%, Chennai +1.3%)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397" cy="73124"/>
          </a:xfrm>
          <a:prstGeom prst="roundRect">
            <a:avLst>
              <a:gd name="adj" fmla="val 9587"/>
            </a:avLst>
          </a:prstGeom>
          <a:solidFill>
            <a:srgbClr val="4E38AB"/>
          </a:solidFill>
          <a:ln/>
          <a:effectLst>
            <a:outerShdw sx="100000" sy="100000" kx="0" ky="0" algn="bl" rotWithShape="0" blurRad="39370" dist="22860" dir="5400000">
              <a:srgbClr val="000000">
                <a:alpha val="30000"/>
              </a:srgbClr>
            </a:outerShdw>
          </a:effectLst>
        </p:spPr>
      </p:sp>
      <p:sp>
        <p:nvSpPr>
          <p:cNvPr id="3" name="Text 1"/>
          <p:cNvSpPr/>
          <p:nvPr/>
        </p:nvSpPr>
        <p:spPr>
          <a:xfrm>
            <a:off x="548567" y="274241"/>
            <a:ext cx="7813182" cy="190500"/>
          </a:xfrm>
          <a:prstGeom prst="rect">
            <a:avLst/>
          </a:prstGeom>
          <a:noFill/>
          <a:ln/>
        </p:spPr>
        <p:txBody>
          <a:bodyPr wrap="none" lIns="0" tIns="0" rIns="0" bIns="0" rtlCol="0" anchor="t"/>
          <a:lstStyle/>
          <a:p>
            <a:pPr algn="l" indent="0" marL="0">
              <a:lnSpc>
                <a:spcPct val="125000"/>
              </a:lnSpc>
              <a:buNone/>
            </a:pPr>
            <a:r>
              <a:rPr lang="en-US" sz="1000" b="1" dirty="0">
                <a:solidFill>
                  <a:srgbClr val="4E38AB"/>
                </a:solidFill>
                <a:latin typeface="Arimo Bold" pitchFamily="34" charset="0"/>
                <a:ea typeface="Arimo Bold" pitchFamily="34" charset="-122"/>
                <a:cs typeface="Arimo Bold" pitchFamily="34" charset="0"/>
              </a:rPr>
              <a:t>2 · THE PICTURE</a:t>
            </a:r>
            <a:endParaRPr lang="en-US" sz="1000" dirty="0"/>
          </a:p>
        </p:txBody>
      </p:sp>
      <p:sp>
        <p:nvSpPr>
          <p:cNvPr id="4" name="Text 2"/>
          <p:cNvSpPr/>
          <p:nvPr/>
        </p:nvSpPr>
        <p:spPr>
          <a:xfrm>
            <a:off x="9814176" y="274241"/>
            <a:ext cx="1924002" cy="190500"/>
          </a:xfrm>
          <a:prstGeom prst="rect">
            <a:avLst/>
          </a:prstGeom>
          <a:noFill/>
          <a:ln/>
        </p:spPr>
        <p:txBody>
          <a:bodyPr wrap="none" lIns="0" tIns="0" rIns="0" bIns="0" rtlCol="0" anchor="t"/>
          <a:lstStyle/>
          <a:p>
            <a:pPr algn="r" indent="0" marL="0">
              <a:lnSpc>
                <a:spcPct val="125000"/>
              </a:lnSpc>
              <a:buNone/>
            </a:pPr>
            <a:r>
              <a:rPr lang="en-US" sz="1000" dirty="0">
                <a:solidFill>
                  <a:srgbClr val="6B6690"/>
                </a:solidFill>
                <a:latin typeface="Arimo" pitchFamily="34" charset="0"/>
                <a:ea typeface="Arimo" pitchFamily="34" charset="-122"/>
                <a:cs typeface="Arimo" pitchFamily="34" charset="0"/>
              </a:rPr>
              <a:t>2 / 6</a:t>
            </a:r>
            <a:endParaRPr lang="en-US" sz="1000" dirty="0"/>
          </a:p>
        </p:txBody>
      </p:sp>
      <p:pic>
        <p:nvPicPr>
          <p:cNvPr id="5" name="Image 0" descr="preencoded.png">    </p:cNvPr>
          <p:cNvPicPr>
            <a:picLocks noChangeAspect="1"/>
          </p:cNvPicPr>
          <p:nvPr/>
        </p:nvPicPr>
        <p:blipFill>
          <a:blip r:embed="rId1"/>
          <a:stretch>
            <a:fillRect/>
          </a:stretch>
        </p:blipFill>
        <p:spPr>
          <a:xfrm>
            <a:off x="457189" y="6263580"/>
            <a:ext cx="411450" cy="411460"/>
          </a:xfrm>
          <a:prstGeom prst="rect">
            <a:avLst/>
          </a:prstGeom>
        </p:spPr>
      </p:pic>
      <p:sp>
        <p:nvSpPr>
          <p:cNvPr id="6" name="Text 3"/>
          <p:cNvSpPr/>
          <p:nvPr/>
        </p:nvSpPr>
        <p:spPr>
          <a:xfrm>
            <a:off x="1051395" y="6355060"/>
            <a:ext cx="9660291" cy="152400"/>
          </a:xfrm>
          <a:prstGeom prst="rect">
            <a:avLst/>
          </a:prstGeom>
          <a:noFill/>
          <a:ln/>
        </p:spPr>
        <p:txBody>
          <a:bodyPr wrap="none" lIns="0" tIns="0" rIns="0" bIns="0" rtlCol="0" anchor="t"/>
          <a:lstStyle/>
          <a:p>
            <a:pPr algn="l" indent="0" marL="0">
              <a:lnSpc>
                <a:spcPct val="125000"/>
              </a:lnSpc>
              <a:buNone/>
            </a:pPr>
            <a:r>
              <a:rPr lang="en-US" sz="800" dirty="0">
                <a:solidFill>
                  <a:srgbClr val="6B6690"/>
                </a:solidFill>
                <a:latin typeface="Arimo" pitchFamily="34" charset="0"/>
                <a:ea typeface="Arimo" pitchFamily="34" charset="-122"/>
                <a:cs typeface="Arimo" pitchFamily="34" charset="0"/>
              </a:rPr>
              <a:t>Indian Institute of Technology Gandhinagar · PG Diploma in AI-ML and Agentic AI Engineering · Cohort 2 · Build 1</a:t>
            </a:r>
            <a:endParaRPr lang="en-US" sz="800" dirty="0"/>
          </a:p>
        </p:txBody>
      </p:sp>
      <p:sp>
        <p:nvSpPr>
          <p:cNvPr id="7" name="Text 4"/>
          <p:cNvSpPr/>
          <p:nvPr/>
        </p:nvSpPr>
        <p:spPr>
          <a:xfrm>
            <a:off x="548567" y="618728"/>
            <a:ext cx="11155381" cy="365720"/>
          </a:xfrm>
          <a:prstGeom prst="rect">
            <a:avLst/>
          </a:prstGeom>
          <a:noFill/>
          <a:ln/>
        </p:spPr>
        <p:txBody>
          <a:bodyPr wrap="none" lIns="0" tIns="0" rIns="0" bIns="0" rtlCol="0" anchor="t"/>
          <a:lstStyle/>
          <a:p>
            <a:pPr algn="l" indent="0" marL="0">
              <a:lnSpc>
                <a:spcPct val="100000"/>
              </a:lnSpc>
              <a:buNone/>
            </a:pPr>
            <a:r>
              <a:rPr lang="en-US" sz="2400" b="1" dirty="0">
                <a:solidFill>
                  <a:srgbClr val="0F294A"/>
                </a:solidFill>
                <a:latin typeface="Gelasio Bold" pitchFamily="34" charset="0"/>
                <a:ea typeface="Gelasio Bold" pitchFamily="34" charset="-122"/>
                <a:cs typeface="Gelasio Bold" pitchFamily="34" charset="0"/>
              </a:rPr>
              <a:t>The Growth Tree &amp; Channel Decomposition: H1 2025 vs H1 2026</a:t>
            </a:r>
            <a:endParaRPr lang="en-US" sz="2400" dirty="0"/>
          </a:p>
        </p:txBody>
      </p:sp>
      <p:sp>
        <p:nvSpPr>
          <p:cNvPr id="8" name="Shape 5"/>
          <p:cNvSpPr/>
          <p:nvPr/>
        </p:nvSpPr>
        <p:spPr>
          <a:xfrm>
            <a:off x="457189" y="1645841"/>
            <a:ext cx="11246759" cy="4206180"/>
          </a:xfrm>
          <a:prstGeom prst="roundRect">
            <a:avLst>
              <a:gd name="adj" fmla="val 9601"/>
            </a:avLst>
          </a:prstGeom>
          <a:solidFill>
            <a:srgbClr val="FFFFFF"/>
          </a:solidFill>
          <a:ln w="6350">
            <a:solidFill>
              <a:srgbClr val="D9D2F4"/>
            </a:solidFill>
            <a:prstDash val="solid"/>
          </a:ln>
          <a:effectLst>
            <a:outerShdw sx="100000" sy="100000" kx="0" ky="0" algn="bl" rotWithShape="0" blurRad="39370" dist="22860" dir="5400000">
              <a:srgbClr val="000000">
                <a:alpha val="30000"/>
              </a:srgbClr>
            </a:outerShdw>
          </a:effectLst>
        </p:spPr>
      </p:sp>
      <p:pic>
        <p:nvPicPr>
          <p:cNvPr id="9" name="Image 1" descr="preencoded.png">    </p:cNvPr>
          <p:cNvPicPr>
            <a:picLocks noChangeAspect="1"/>
          </p:cNvPicPr>
          <p:nvPr/>
        </p:nvPicPr>
        <p:blipFill>
          <a:blip r:embed="rId2"/>
          <a:stretch>
            <a:fillRect/>
          </a:stretch>
        </p:blipFill>
        <p:spPr>
          <a:xfrm>
            <a:off x="502828" y="1691580"/>
            <a:ext cx="11155381" cy="4114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567" y="279003"/>
            <a:ext cx="7223639" cy="152400"/>
          </a:xfrm>
          <a:prstGeom prst="rect">
            <a:avLst/>
          </a:prstGeom>
          <a:noFill/>
          <a:ln/>
        </p:spPr>
        <p:txBody>
          <a:bodyPr wrap="none" lIns="0" tIns="0" rIns="0" bIns="0" rtlCol="0" anchor="t"/>
          <a:lstStyle/>
          <a:p>
            <a:pPr algn="l" indent="0" marL="0">
              <a:lnSpc>
                <a:spcPct val="100000"/>
              </a:lnSpc>
              <a:buNone/>
            </a:pPr>
            <a:r>
              <a:rPr lang="en-US" sz="1000" b="1" dirty="0">
                <a:solidFill>
                  <a:srgbClr val="4E38AB"/>
                </a:solidFill>
                <a:latin typeface="Arimo Bold" pitchFamily="34" charset="0"/>
                <a:ea typeface="Arimo Bold" pitchFamily="34" charset="-122"/>
                <a:cs typeface="Arimo Bold" pitchFamily="34" charset="0"/>
              </a:rPr>
              <a:t>3 · THE CLAIM</a:t>
            </a:r>
            <a:endParaRPr lang="en-US" sz="1000" dirty="0"/>
          </a:p>
        </p:txBody>
      </p:sp>
      <p:sp>
        <p:nvSpPr>
          <p:cNvPr id="3" name="Text 1"/>
          <p:cNvSpPr/>
          <p:nvPr/>
        </p:nvSpPr>
        <p:spPr>
          <a:xfrm>
            <a:off x="10332382" y="279003"/>
            <a:ext cx="1463142" cy="152400"/>
          </a:xfrm>
          <a:prstGeom prst="rect">
            <a:avLst/>
          </a:prstGeom>
          <a:noFill/>
          <a:ln/>
        </p:spPr>
        <p:txBody>
          <a:bodyPr wrap="none" lIns="0" tIns="0" rIns="0" bIns="0" rtlCol="0" anchor="t"/>
          <a:lstStyle/>
          <a:p>
            <a:pPr algn="r" indent="0" marL="0">
              <a:lnSpc>
                <a:spcPct val="100000"/>
              </a:lnSpc>
              <a:buNone/>
            </a:pPr>
            <a:r>
              <a:rPr lang="en-US" sz="1000" dirty="0">
                <a:solidFill>
                  <a:srgbClr val="6B6690"/>
                </a:solidFill>
                <a:latin typeface="Arimo" pitchFamily="34" charset="0"/>
                <a:ea typeface="Arimo" pitchFamily="34" charset="-122"/>
                <a:cs typeface="Arimo" pitchFamily="34" charset="0"/>
              </a:rPr>
              <a:t>3 / 6</a:t>
            </a:r>
            <a:endParaRPr lang="en-US" sz="1000" dirty="0"/>
          </a:p>
        </p:txBody>
      </p:sp>
      <p:sp>
        <p:nvSpPr>
          <p:cNvPr id="4" name="Text 2"/>
          <p:cNvSpPr/>
          <p:nvPr/>
        </p:nvSpPr>
        <p:spPr>
          <a:xfrm>
            <a:off x="548567" y="618331"/>
            <a:ext cx="11155580" cy="365720"/>
          </a:xfrm>
          <a:prstGeom prst="rect">
            <a:avLst/>
          </a:prstGeom>
          <a:noFill/>
          <a:ln/>
        </p:spPr>
        <p:txBody>
          <a:bodyPr wrap="none" lIns="0" tIns="0" rIns="0" bIns="0" rtlCol="0" anchor="t"/>
          <a:lstStyle/>
          <a:p>
            <a:pPr algn="l" indent="0" marL="0">
              <a:lnSpc>
                <a:spcPct val="100000"/>
              </a:lnSpc>
              <a:buNone/>
            </a:pPr>
            <a:r>
              <a:rPr lang="en-US" sz="2400" b="1" dirty="0">
                <a:solidFill>
                  <a:srgbClr val="0F294A"/>
                </a:solidFill>
                <a:latin typeface="Gelasio Bold" pitchFamily="34" charset="0"/>
                <a:ea typeface="Gelasio Bold" pitchFamily="34" charset="-122"/>
                <a:cs typeface="Gelasio Bold" pitchFamily="34" charset="0"/>
              </a:rPr>
              <a:t>The one sentence Dr Menon can say to her board</a:t>
            </a:r>
            <a:endParaRPr lang="en-US" sz="2400" dirty="0"/>
          </a:p>
        </p:txBody>
      </p:sp>
      <p:sp>
        <p:nvSpPr>
          <p:cNvPr id="5" name="Shape 3"/>
          <p:cNvSpPr/>
          <p:nvPr/>
        </p:nvSpPr>
        <p:spPr>
          <a:xfrm>
            <a:off x="457189" y="2011462"/>
            <a:ext cx="11246958" cy="2377380"/>
          </a:xfrm>
          <a:prstGeom prst="roundRect">
            <a:avLst>
              <a:gd name="adj" fmla="val 9603"/>
            </a:avLst>
          </a:prstGeom>
          <a:solidFill>
            <a:srgbClr val="EEEAFB"/>
          </a:solidFill>
          <a:ln/>
          <a:effectLst>
            <a:outerShdw sx="100000" sy="100000" kx="0" ky="0" algn="bl" rotWithShape="0" blurRad="39370" dist="22860" dir="5400000">
              <a:srgbClr val="000000">
                <a:alpha val="30000"/>
              </a:srgbClr>
            </a:outerShdw>
          </a:effectLst>
        </p:spPr>
      </p:sp>
      <p:sp>
        <p:nvSpPr>
          <p:cNvPr id="6" name="Text 4"/>
          <p:cNvSpPr/>
          <p:nvPr/>
        </p:nvSpPr>
        <p:spPr>
          <a:xfrm>
            <a:off x="914377" y="2270522"/>
            <a:ext cx="10332581" cy="1676301"/>
          </a:xfrm>
          <a:prstGeom prst="rect">
            <a:avLst/>
          </a:prstGeom>
          <a:noFill/>
          <a:ln/>
        </p:spPr>
        <p:txBody>
          <a:bodyPr wrap="square" lIns="0" tIns="0" rIns="0" bIns="0" rtlCol="0" anchor="t">
            <a:normAutofit/>
          </a:bodyPr>
          <a:lstStyle/>
          <a:p>
            <a:pPr algn="ctr" indent="0" marL="0">
              <a:lnSpc>
                <a:spcPct val="100000"/>
              </a:lnSpc>
              <a:buNone/>
            </a:pPr>
            <a:r>
              <a:rPr lang="en-US" sz="2200" i="1" dirty="0">
                <a:solidFill>
                  <a:srgbClr val="0F294A"/>
                </a:solidFill>
                <a:latin typeface="Gelasio" pitchFamily="34" charset="0"/>
                <a:ea typeface="Gelasio" pitchFamily="34" charset="-122"/>
                <a:cs typeface="Gelasio" pitchFamily="34" charset="0"/>
              </a:rPr>
              <a:t>“Kalpa grew test volume by 5.75% (378,358 results across six cities in H1 2026 vs 357,769 in H1 2025), driven entirely by a 37.7% surge in home collection (+13.5 pp) and 35.2% growth in health packages (+4.4 pp), masking a 12.1% clinic volume decline (-7.7 pp) and acute patient acquisition shortfalls in Jaipur (-9.9%) and Chennai (+1.3%).”</a:t>
            </a:r>
            <a:endParaRPr lang="en-US" sz="2200" dirty="0"/>
          </a:p>
        </p:txBody>
      </p:sp>
      <p:sp>
        <p:nvSpPr>
          <p:cNvPr id="7" name="Text 5"/>
          <p:cNvSpPr/>
          <p:nvPr/>
        </p:nvSpPr>
        <p:spPr>
          <a:xfrm>
            <a:off x="1051494" y="6354763"/>
            <a:ext cx="9660787" cy="121841"/>
          </a:xfrm>
          <a:prstGeom prst="rect">
            <a:avLst/>
          </a:prstGeom>
          <a:noFill/>
          <a:ln/>
        </p:spPr>
        <p:txBody>
          <a:bodyPr wrap="none" lIns="0" tIns="0" rIns="0" bIns="0" rtlCol="0" anchor="t"/>
          <a:lstStyle/>
          <a:p>
            <a:pPr algn="l" indent="0" marL="0">
              <a:lnSpc>
                <a:spcPct val="100000"/>
              </a:lnSpc>
              <a:buNone/>
            </a:pPr>
            <a:r>
              <a:rPr lang="en-US" sz="800" dirty="0">
                <a:solidFill>
                  <a:srgbClr val="6B6690"/>
                </a:solidFill>
                <a:latin typeface="Arimo" pitchFamily="34" charset="0"/>
                <a:ea typeface="Arimo" pitchFamily="34" charset="-122"/>
                <a:cs typeface="Arimo" pitchFamily="34" charset="0"/>
              </a:rPr>
              <a:t>Indian Institute of Technology Gandhinagar · PG Diploma in AI-ML and Agentic AI Engineering · Cohort 2 · Build 1</a:t>
            </a:r>
            <a:endParaRPr lang="en-US" sz="800" dirty="0"/>
          </a:p>
        </p:txBody>
      </p:sp>
      <p:sp>
        <p:nvSpPr>
          <p:cNvPr id="8" name="Shape 6"/>
          <p:cNvSpPr/>
          <p:nvPr/>
        </p:nvSpPr>
        <p:spPr>
          <a:xfrm>
            <a:off x="0" y="0"/>
            <a:ext cx="12191397" cy="73124"/>
          </a:xfrm>
          <a:prstGeom prst="roundRect">
            <a:avLst>
              <a:gd name="adj" fmla="val 9587"/>
            </a:avLst>
          </a:prstGeom>
          <a:solidFill>
            <a:srgbClr val="4E38AB"/>
          </a:solidFill>
          <a:ln/>
          <a:effectLst>
            <a:outerShdw sx="100000" sy="100000" kx="0" ky="0" algn="bl" rotWithShape="0" blurRad="39370" dist="22860" dir="5400000">
              <a:srgbClr val="000000">
                <a:alpha val="30000"/>
              </a:srgbClr>
            </a:outerShdw>
          </a:effectLst>
        </p:spPr>
      </p:sp>
      <p:pic>
        <p:nvPicPr>
          <p:cNvPr id="9" name="Image 0" descr="preencoded.png">    </p:cNvPr>
          <p:cNvPicPr>
            <a:picLocks noChangeAspect="1"/>
          </p:cNvPicPr>
          <p:nvPr/>
        </p:nvPicPr>
        <p:blipFill>
          <a:blip r:embed="rId1"/>
          <a:stretch>
            <a:fillRect/>
          </a:stretch>
        </p:blipFill>
        <p:spPr>
          <a:xfrm>
            <a:off x="457189" y="6263580"/>
            <a:ext cx="411450" cy="4114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397" cy="73124"/>
          </a:xfrm>
          <a:prstGeom prst="roundRect">
            <a:avLst>
              <a:gd name="adj" fmla="val 9587"/>
            </a:avLst>
          </a:prstGeom>
          <a:solidFill>
            <a:srgbClr val="4E38AB"/>
          </a:solidFill>
          <a:ln/>
          <a:effectLst>
            <a:outerShdw sx="100000" sy="100000" kx="0" ky="0" algn="bl" rotWithShape="0" blurRad="39370" dist="22860" dir="5400000">
              <a:srgbClr val="000000">
                <a:alpha val="30000"/>
              </a:srgbClr>
            </a:outerShdw>
          </a:effectLst>
        </p:spPr>
      </p:sp>
      <p:sp>
        <p:nvSpPr>
          <p:cNvPr id="3" name="Text 1"/>
          <p:cNvSpPr/>
          <p:nvPr/>
        </p:nvSpPr>
        <p:spPr>
          <a:xfrm>
            <a:off x="548567" y="274241"/>
            <a:ext cx="7813182" cy="190500"/>
          </a:xfrm>
          <a:prstGeom prst="rect">
            <a:avLst/>
          </a:prstGeom>
          <a:noFill/>
          <a:ln/>
        </p:spPr>
        <p:txBody>
          <a:bodyPr wrap="none" lIns="0" tIns="0" rIns="0" bIns="0" rtlCol="0" anchor="t"/>
          <a:lstStyle/>
          <a:p>
            <a:pPr algn="l" indent="0" marL="0">
              <a:lnSpc>
                <a:spcPct val="125000"/>
              </a:lnSpc>
              <a:buNone/>
            </a:pPr>
            <a:r>
              <a:rPr lang="en-US" sz="1000" b="1" dirty="0">
                <a:solidFill>
                  <a:srgbClr val="4E38AB"/>
                </a:solidFill>
                <a:latin typeface="Arimo Bold" pitchFamily="34" charset="0"/>
                <a:ea typeface="Arimo Bold" pitchFamily="34" charset="-122"/>
                <a:cs typeface="Arimo Bold" pitchFamily="34" charset="0"/>
              </a:rPr>
              <a:t>4 · THE EVIDENCE</a:t>
            </a:r>
            <a:endParaRPr lang="en-US" sz="1000" dirty="0"/>
          </a:p>
        </p:txBody>
      </p:sp>
      <p:sp>
        <p:nvSpPr>
          <p:cNvPr id="4" name="Text 2"/>
          <p:cNvSpPr/>
          <p:nvPr/>
        </p:nvSpPr>
        <p:spPr>
          <a:xfrm>
            <a:off x="9814176" y="274241"/>
            <a:ext cx="1924002" cy="190500"/>
          </a:xfrm>
          <a:prstGeom prst="rect">
            <a:avLst/>
          </a:prstGeom>
          <a:noFill/>
          <a:ln/>
        </p:spPr>
        <p:txBody>
          <a:bodyPr wrap="none" lIns="0" tIns="0" rIns="0" bIns="0" rtlCol="0" anchor="t"/>
          <a:lstStyle/>
          <a:p>
            <a:pPr algn="r" indent="0" marL="0">
              <a:lnSpc>
                <a:spcPct val="125000"/>
              </a:lnSpc>
              <a:buNone/>
            </a:pPr>
            <a:r>
              <a:rPr lang="en-US" sz="1000" dirty="0">
                <a:solidFill>
                  <a:srgbClr val="6B6690"/>
                </a:solidFill>
                <a:latin typeface="Arimo" pitchFamily="34" charset="0"/>
                <a:ea typeface="Arimo" pitchFamily="34" charset="-122"/>
                <a:cs typeface="Arimo" pitchFamily="34" charset="0"/>
              </a:rPr>
              <a:t>4 / 6</a:t>
            </a:r>
            <a:endParaRPr lang="en-US" sz="1000" dirty="0"/>
          </a:p>
        </p:txBody>
      </p:sp>
      <p:pic>
        <p:nvPicPr>
          <p:cNvPr id="5" name="Image 0" descr="preencoded.png">    </p:cNvPr>
          <p:cNvPicPr>
            <a:picLocks noChangeAspect="1"/>
          </p:cNvPicPr>
          <p:nvPr/>
        </p:nvPicPr>
        <p:blipFill>
          <a:blip r:embed="rId1"/>
          <a:stretch>
            <a:fillRect/>
          </a:stretch>
        </p:blipFill>
        <p:spPr>
          <a:xfrm>
            <a:off x="457189" y="6263580"/>
            <a:ext cx="411450" cy="411460"/>
          </a:xfrm>
          <a:prstGeom prst="rect">
            <a:avLst/>
          </a:prstGeom>
        </p:spPr>
      </p:pic>
      <p:sp>
        <p:nvSpPr>
          <p:cNvPr id="6" name="Text 3"/>
          <p:cNvSpPr/>
          <p:nvPr/>
        </p:nvSpPr>
        <p:spPr>
          <a:xfrm>
            <a:off x="1051395" y="6355060"/>
            <a:ext cx="9660291" cy="152400"/>
          </a:xfrm>
          <a:prstGeom prst="rect">
            <a:avLst/>
          </a:prstGeom>
          <a:noFill/>
          <a:ln/>
        </p:spPr>
        <p:txBody>
          <a:bodyPr wrap="none" lIns="0" tIns="0" rIns="0" bIns="0" rtlCol="0" anchor="t"/>
          <a:lstStyle/>
          <a:p>
            <a:pPr algn="l" indent="0" marL="0">
              <a:lnSpc>
                <a:spcPct val="125000"/>
              </a:lnSpc>
              <a:buNone/>
            </a:pPr>
            <a:r>
              <a:rPr lang="en-US" sz="800" dirty="0">
                <a:solidFill>
                  <a:srgbClr val="6B6690"/>
                </a:solidFill>
                <a:latin typeface="Arimo" pitchFamily="34" charset="0"/>
                <a:ea typeface="Arimo" pitchFamily="34" charset="-122"/>
                <a:cs typeface="Arimo" pitchFamily="34" charset="0"/>
              </a:rPr>
              <a:t>Indian Institute of Technology Gandhinagar · PG Diploma in AI-ML and Agentic AI Engineering · Cohort 2 · Build 1</a:t>
            </a:r>
            <a:endParaRPr lang="en-US" sz="800" dirty="0"/>
          </a:p>
        </p:txBody>
      </p:sp>
      <p:sp>
        <p:nvSpPr>
          <p:cNvPr id="7" name="Text 4"/>
          <p:cNvSpPr/>
          <p:nvPr/>
        </p:nvSpPr>
        <p:spPr>
          <a:xfrm>
            <a:off x="548567" y="618728"/>
            <a:ext cx="11155381" cy="365720"/>
          </a:xfrm>
          <a:prstGeom prst="rect">
            <a:avLst/>
          </a:prstGeom>
          <a:noFill/>
          <a:ln/>
        </p:spPr>
        <p:txBody>
          <a:bodyPr wrap="none" lIns="0" tIns="0" rIns="0" bIns="0" rtlCol="0" anchor="t"/>
          <a:lstStyle/>
          <a:p>
            <a:pPr algn="l" indent="0" marL="0">
              <a:lnSpc>
                <a:spcPct val="100000"/>
              </a:lnSpc>
              <a:buNone/>
            </a:pPr>
            <a:r>
              <a:rPr lang="en-US" sz="2400" b="1" dirty="0">
                <a:solidFill>
                  <a:srgbClr val="0F294A"/>
                </a:solidFill>
                <a:latin typeface="Gelasio Bold" pitchFamily="34" charset="0"/>
                <a:ea typeface="Gelasio Bold" pitchFamily="34" charset="-122"/>
                <a:cs typeface="Gelasio Bold" pitchFamily="34" charset="0"/>
              </a:rPr>
              <a:t>Channel shift, package lift, and regional shortfall</a:t>
            </a:r>
            <a:endParaRPr lang="en-US" sz="2400" dirty="0"/>
          </a:p>
        </p:txBody>
      </p:sp>
      <p:sp>
        <p:nvSpPr>
          <p:cNvPr id="8" name="Text 5"/>
          <p:cNvSpPr/>
          <p:nvPr/>
        </p:nvSpPr>
        <p:spPr>
          <a:xfrm>
            <a:off x="548567" y="1685230"/>
            <a:ext cx="5215799" cy="182860"/>
          </a:xfrm>
          <a:prstGeom prst="rect">
            <a:avLst/>
          </a:prstGeom>
          <a:noFill/>
          <a:ln/>
        </p:spPr>
        <p:txBody>
          <a:bodyPr wrap="none" lIns="0" tIns="0" rIns="0" bIns="0" rtlCol="0" anchor="t"/>
          <a:lstStyle/>
          <a:p>
            <a:pPr algn="l" indent="0" marL="0">
              <a:lnSpc>
                <a:spcPct val="100000"/>
              </a:lnSpc>
              <a:buNone/>
            </a:pPr>
            <a:r>
              <a:rPr lang="en-US" sz="1200" b="1" dirty="0">
                <a:solidFill>
                  <a:srgbClr val="0F294A"/>
                </a:solidFill>
                <a:latin typeface="Arimo Bold" pitchFamily="34" charset="0"/>
                <a:ea typeface="Arimo Bold" pitchFamily="34" charset="-122"/>
                <a:cs typeface="Arimo Bold" pitchFamily="34" charset="0"/>
              </a:rPr>
              <a:t>Number 1 · Channel Divergence:</a:t>
            </a:r>
            <a:endParaRPr lang="en-US" sz="1200" dirty="0"/>
          </a:p>
        </p:txBody>
      </p:sp>
      <p:sp>
        <p:nvSpPr>
          <p:cNvPr id="9" name="Text 6"/>
          <p:cNvSpPr/>
          <p:nvPr/>
        </p:nvSpPr>
        <p:spPr>
          <a:xfrm>
            <a:off x="548567" y="1868091"/>
            <a:ext cx="4606214" cy="505123"/>
          </a:xfrm>
          <a:prstGeom prst="rect">
            <a:avLst/>
          </a:prstGeom>
          <a:noFill/>
          <a:ln/>
        </p:spPr>
        <p:txBody>
          <a:bodyPr wrap="square" lIns="0" tIns="25336" rIns="0" bIns="0" rtlCol="0" anchor="t">
            <a:normAutofit/>
          </a:bodyPr>
          <a:lstStyle/>
          <a:p>
            <a:pPr algn="l" indent="0" marL="0">
              <a:lnSpc>
                <a:spcPct val="100000"/>
              </a:lnSpc>
              <a:buNone/>
            </a:pPr>
            <a:r>
              <a:rPr lang="en-US" sz="1050" dirty="0">
                <a:solidFill>
                  <a:srgbClr val="1E293B"/>
                </a:solidFill>
                <a:latin typeface="Arimo" pitchFamily="34" charset="0"/>
                <a:ea typeface="Arimo" pitchFamily="34" charset="-122"/>
                <a:cs typeface="Arimo" pitchFamily="34" charset="0"/>
              </a:rPr>
              <a:t>Home collection: +37.7%, across every city (152,709 vs 110,929 results), +13.5 pp contribution</a:t>
            </a:r>
            <a:endParaRPr lang="en-US" sz="1050" dirty="0"/>
          </a:p>
          <a:p>
            <a:pPr algn="l" indent="0" marL="0">
              <a:lnSpc>
                <a:spcPct val="100000"/>
              </a:lnSpc>
              <a:buNone/>
            </a:pPr>
            <a:r>
              <a:rPr lang="en-US" sz="1050" dirty="0">
                <a:solidFill>
                  <a:srgbClr val="1E293B"/>
                </a:solidFill>
                <a:latin typeface="Arimo" pitchFamily="34" charset="0"/>
                <a:ea typeface="Arimo" pitchFamily="34" charset="-122"/>
                <a:cs typeface="Arimo" pitchFamily="34" charset="0"/>
              </a:rPr>
              <a:t>Clinic: -12.1% (223,727 vs 245,042), -7.7 pp drag</a:t>
            </a:r>
            <a:endParaRPr lang="en-US" sz="1050" dirty="0"/>
          </a:p>
        </p:txBody>
      </p:sp>
      <p:sp>
        <p:nvSpPr>
          <p:cNvPr id="10" name="Text 7"/>
          <p:cNvSpPr/>
          <p:nvPr/>
        </p:nvSpPr>
        <p:spPr>
          <a:xfrm>
            <a:off x="548567" y="2373213"/>
            <a:ext cx="4606214" cy="309265"/>
          </a:xfrm>
          <a:prstGeom prst="rect">
            <a:avLst/>
          </a:prstGeom>
          <a:noFill/>
          <a:ln/>
        </p:spPr>
        <p:txBody>
          <a:bodyPr wrap="square" lIns="0" tIns="126489" rIns="0" bIns="0" rtlCol="0" anchor="t">
            <a:normAutofit/>
          </a:bodyPr>
          <a:lstStyle/>
          <a:p>
            <a:pPr algn="l" indent="0" marL="0">
              <a:lnSpc>
                <a:spcPct val="100000"/>
              </a:lnSpc>
              <a:buNone/>
            </a:pPr>
            <a:r>
              <a:rPr lang="en-US" sz="1200" b="1" dirty="0">
                <a:solidFill>
                  <a:srgbClr val="0F294A"/>
                </a:solidFill>
                <a:latin typeface="Arimo Bold" pitchFamily="34" charset="0"/>
                <a:ea typeface="Arimo Bold" pitchFamily="34" charset="-122"/>
                <a:cs typeface="Arimo Bold" pitchFamily="34" charset="0"/>
              </a:rPr>
              <a:t>Number 2 · Package Adoption:</a:t>
            </a:r>
            <a:endParaRPr lang="en-US" sz="1200" dirty="0"/>
          </a:p>
        </p:txBody>
      </p:sp>
      <p:sp>
        <p:nvSpPr>
          <p:cNvPr id="11" name="Text 8"/>
          <p:cNvSpPr/>
          <p:nvPr/>
        </p:nvSpPr>
        <p:spPr>
          <a:xfrm>
            <a:off x="548567" y="2682478"/>
            <a:ext cx="4606214" cy="505123"/>
          </a:xfrm>
          <a:prstGeom prst="rect">
            <a:avLst/>
          </a:prstGeom>
          <a:noFill/>
          <a:ln/>
        </p:spPr>
        <p:txBody>
          <a:bodyPr wrap="square" lIns="0" tIns="25336" rIns="0" bIns="0" rtlCol="0" anchor="t">
            <a:normAutofit/>
          </a:bodyPr>
          <a:lstStyle/>
          <a:p>
            <a:pPr algn="l" indent="0" marL="0">
              <a:lnSpc>
                <a:spcPct val="100000"/>
              </a:lnSpc>
              <a:buNone/>
            </a:pPr>
            <a:r>
              <a:rPr lang="en-US" sz="1050" dirty="0">
                <a:solidFill>
                  <a:srgbClr val="1E293B"/>
                </a:solidFill>
                <a:latin typeface="Arimo" pitchFamily="34" charset="0"/>
                <a:ea typeface="Arimo" pitchFamily="34" charset="-122"/>
                <a:cs typeface="Arimo" pitchFamily="34" charset="0"/>
              </a:rPr>
              <a:t>Package tests (PK01–PK04): +35.2% (60,110 vs 44,467 rows)</a:t>
            </a:r>
            <a:endParaRPr lang="en-US" sz="1050" dirty="0"/>
          </a:p>
          <a:p>
            <a:pPr algn="l" indent="0" marL="0">
              <a:lnSpc>
                <a:spcPct val="100000"/>
              </a:lnSpc>
              <a:buNone/>
            </a:pPr>
            <a:r>
              <a:rPr lang="en-US" sz="1050" dirty="0">
                <a:solidFill>
                  <a:srgbClr val="1E293B"/>
                </a:solidFill>
                <a:latin typeface="Arimo" pitchFamily="34" charset="0"/>
                <a:ea typeface="Arimo" pitchFamily="34" charset="-122"/>
                <a:cs typeface="Arimo" pitchFamily="34" charset="0"/>
              </a:rPr>
              <a:t>Package share across channels: 12.5% to 15.9% (+4.4 pp contribution)</a:t>
            </a:r>
            <a:endParaRPr lang="en-US" sz="1050" dirty="0"/>
          </a:p>
          <a:p>
            <a:pPr algn="l" indent="0" marL="0">
              <a:lnSpc>
                <a:spcPct val="100000"/>
              </a:lnSpc>
              <a:buNone/>
            </a:pPr>
            <a:r>
              <a:rPr lang="en-US" sz="1050" dirty="0">
                <a:solidFill>
                  <a:srgbClr val="1E293B"/>
                </a:solidFill>
                <a:latin typeface="Arimo" pitchFamily="34" charset="0"/>
                <a:ea typeface="Arimo" pitchFamily="34" charset="-122"/>
                <a:cs typeface="Arimo" pitchFamily="34" charset="0"/>
              </a:rPr>
              <a:t>Routine single tests: only +1.6%</a:t>
            </a:r>
            <a:endParaRPr lang="en-US" sz="1050" dirty="0"/>
          </a:p>
        </p:txBody>
      </p:sp>
      <p:sp>
        <p:nvSpPr>
          <p:cNvPr id="12" name="Text 9"/>
          <p:cNvSpPr/>
          <p:nvPr/>
        </p:nvSpPr>
        <p:spPr>
          <a:xfrm>
            <a:off x="548567" y="3187601"/>
            <a:ext cx="4606214" cy="309265"/>
          </a:xfrm>
          <a:prstGeom prst="rect">
            <a:avLst/>
          </a:prstGeom>
          <a:noFill/>
          <a:ln/>
        </p:spPr>
        <p:txBody>
          <a:bodyPr wrap="square" lIns="0" tIns="126489" rIns="0" bIns="0" rtlCol="0" anchor="t">
            <a:normAutofit/>
          </a:bodyPr>
          <a:lstStyle/>
          <a:p>
            <a:pPr algn="l" indent="0" marL="0">
              <a:lnSpc>
                <a:spcPct val="100000"/>
              </a:lnSpc>
              <a:buNone/>
            </a:pPr>
            <a:r>
              <a:rPr lang="en-US" sz="1200" b="1" dirty="0">
                <a:solidFill>
                  <a:srgbClr val="0F294A"/>
                </a:solidFill>
                <a:latin typeface="Arimo Bold" pitchFamily="34" charset="0"/>
                <a:ea typeface="Arimo Bold" pitchFamily="34" charset="-122"/>
                <a:cs typeface="Arimo Bold" pitchFamily="34" charset="0"/>
              </a:rPr>
              <a:t>Number 3 · Regional Shortfall vs Plan:</a:t>
            </a:r>
            <a:endParaRPr lang="en-US" sz="1200" dirty="0"/>
          </a:p>
        </p:txBody>
      </p:sp>
      <p:sp>
        <p:nvSpPr>
          <p:cNvPr id="13" name="Text 10"/>
          <p:cNvSpPr/>
          <p:nvPr/>
        </p:nvSpPr>
        <p:spPr>
          <a:xfrm>
            <a:off x="548567" y="3496866"/>
            <a:ext cx="4606214" cy="665063"/>
          </a:xfrm>
          <a:prstGeom prst="rect">
            <a:avLst/>
          </a:prstGeom>
          <a:noFill/>
          <a:ln/>
        </p:spPr>
        <p:txBody>
          <a:bodyPr wrap="square" lIns="0" tIns="25336" rIns="0" bIns="0" rtlCol="0" anchor="t">
            <a:normAutofit/>
          </a:bodyPr>
          <a:lstStyle/>
          <a:p>
            <a:pPr algn="l" indent="0" marL="0">
              <a:lnSpc>
                <a:spcPct val="100000"/>
              </a:lnSpc>
              <a:buNone/>
            </a:pPr>
            <a:r>
              <a:rPr lang="en-US" sz="1050" dirty="0">
                <a:solidFill>
                  <a:srgbClr val="1E293B"/>
                </a:solidFill>
                <a:latin typeface="Arimo" pitchFamily="34" charset="0"/>
                <a:ea typeface="Arimo" pitchFamily="34" charset="-122"/>
                <a:cs typeface="Arimo" pitchFamily="34" charset="0"/>
              </a:rPr>
              <a:t>Jaipur (-9.9% YoY) and Chennai (+1.3% YoY) reached only 63.6% and 70.4% of H1 2026 plan targets (vs ~75% in other cities)</a:t>
            </a:r>
            <a:endParaRPr lang="en-US" sz="1050" dirty="0"/>
          </a:p>
          <a:p>
            <a:pPr algn="l" indent="0" marL="0">
              <a:lnSpc>
                <a:spcPct val="100000"/>
              </a:lnSpc>
              <a:buNone/>
            </a:pPr>
            <a:r>
              <a:rPr lang="en-US" sz="1050" dirty="0">
                <a:solidFill>
                  <a:srgbClr val="1E293B"/>
                </a:solidFill>
                <a:latin typeface="Arimo" pitchFamily="34" charset="0"/>
                <a:ea typeface="Arimo" pitchFamily="34" charset="-122"/>
                <a:cs typeface="Arimo" pitchFamily="34" charset="0"/>
              </a:rPr>
              <a:t>Driven by a -12.1% and -5.0% collapse in unique patients</a:t>
            </a:r>
            <a:endParaRPr lang="en-US" sz="1050" dirty="0"/>
          </a:p>
          <a:p>
            <a:pPr algn="l" indent="0" marL="0">
              <a:lnSpc>
                <a:spcPct val="100000"/>
              </a:lnSpc>
              <a:buNone/>
            </a:pPr>
            <a:r>
              <a:rPr lang="en-US" sz="1050" dirty="0">
                <a:solidFill>
                  <a:srgbClr val="1E293B"/>
                </a:solidFill>
                <a:latin typeface="Arimo" pitchFamily="34" charset="0"/>
                <a:ea typeface="Arimo" pitchFamily="34" charset="-122"/>
                <a:cs typeface="Arimo" pitchFamily="34" charset="0"/>
              </a:rPr>
              <a:t>Lab fulfilment stayed steady at 82.5%–83.3%</a:t>
            </a:r>
            <a:endParaRPr lang="en-US" sz="1050" dirty="0"/>
          </a:p>
        </p:txBody>
      </p:sp>
      <p:sp>
        <p:nvSpPr>
          <p:cNvPr id="14" name="Shape 11"/>
          <p:cNvSpPr/>
          <p:nvPr/>
        </p:nvSpPr>
        <p:spPr>
          <a:xfrm>
            <a:off x="5486263" y="1645841"/>
            <a:ext cx="6217685" cy="4206180"/>
          </a:xfrm>
          <a:prstGeom prst="roundRect">
            <a:avLst>
              <a:gd name="adj" fmla="val 9601"/>
            </a:avLst>
          </a:prstGeom>
          <a:solidFill>
            <a:srgbClr val="FFFFFF"/>
          </a:solidFill>
          <a:ln w="6350">
            <a:solidFill>
              <a:srgbClr val="D9D2F4"/>
            </a:solidFill>
            <a:prstDash val="solid"/>
          </a:ln>
          <a:effectLst>
            <a:outerShdw sx="100000" sy="100000" kx="0" ky="0" algn="bl" rotWithShape="0" blurRad="39370" dist="22860" dir="5400000">
              <a:srgbClr val="000000">
                <a:alpha val="30000"/>
              </a:srgbClr>
            </a:outerShdw>
          </a:effectLst>
        </p:spPr>
      </p:sp>
      <p:pic>
        <p:nvPicPr>
          <p:cNvPr id="15" name="Image 1" descr="preencoded.png">    </p:cNvPr>
          <p:cNvPicPr>
            <a:picLocks noChangeAspect="1"/>
          </p:cNvPicPr>
          <p:nvPr/>
        </p:nvPicPr>
        <p:blipFill>
          <a:blip r:embed="rId2"/>
          <a:stretch>
            <a:fillRect/>
          </a:stretch>
        </p:blipFill>
        <p:spPr>
          <a:xfrm>
            <a:off x="5531902" y="1691580"/>
            <a:ext cx="6126307" cy="4114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397" cy="73124"/>
          </a:xfrm>
          <a:prstGeom prst="roundRect">
            <a:avLst>
              <a:gd name="adj" fmla="val 9587"/>
            </a:avLst>
          </a:prstGeom>
          <a:solidFill>
            <a:srgbClr val="4E38AB"/>
          </a:solidFill>
          <a:ln/>
          <a:effectLst>
            <a:outerShdw sx="100000" sy="100000" kx="0" ky="0" algn="bl" rotWithShape="0" blurRad="39370" dist="22860" dir="5400000">
              <a:srgbClr val="000000">
                <a:alpha val="30000"/>
              </a:srgbClr>
            </a:outerShdw>
          </a:effectLst>
        </p:spPr>
      </p:sp>
      <p:sp>
        <p:nvSpPr>
          <p:cNvPr id="3" name="Text 1"/>
          <p:cNvSpPr/>
          <p:nvPr/>
        </p:nvSpPr>
        <p:spPr>
          <a:xfrm>
            <a:off x="548567" y="274241"/>
            <a:ext cx="7813182" cy="190500"/>
          </a:xfrm>
          <a:prstGeom prst="rect">
            <a:avLst/>
          </a:prstGeom>
          <a:noFill/>
          <a:ln/>
        </p:spPr>
        <p:txBody>
          <a:bodyPr wrap="none" lIns="0" tIns="0" rIns="0" bIns="0" rtlCol="0" anchor="t"/>
          <a:lstStyle/>
          <a:p>
            <a:pPr algn="l" indent="0" marL="0">
              <a:lnSpc>
                <a:spcPct val="125000"/>
              </a:lnSpc>
              <a:buNone/>
            </a:pPr>
            <a:r>
              <a:rPr lang="en-US" sz="1000" b="1" dirty="0">
                <a:solidFill>
                  <a:srgbClr val="4E38AB"/>
                </a:solidFill>
                <a:latin typeface="Arimo Bold" pitchFamily="34" charset="0"/>
                <a:ea typeface="Arimo Bold" pitchFamily="34" charset="-122"/>
                <a:cs typeface="Arimo Bold" pitchFamily="34" charset="0"/>
              </a:rPr>
              <a:t>5 · THE CAVEAT AND THE ALTERNATIVE</a:t>
            </a:r>
            <a:endParaRPr lang="en-US" sz="1000" dirty="0"/>
          </a:p>
        </p:txBody>
      </p:sp>
      <p:sp>
        <p:nvSpPr>
          <p:cNvPr id="4" name="Text 2"/>
          <p:cNvSpPr/>
          <p:nvPr/>
        </p:nvSpPr>
        <p:spPr>
          <a:xfrm>
            <a:off x="9814176" y="274241"/>
            <a:ext cx="1924002" cy="190500"/>
          </a:xfrm>
          <a:prstGeom prst="rect">
            <a:avLst/>
          </a:prstGeom>
          <a:noFill/>
          <a:ln/>
        </p:spPr>
        <p:txBody>
          <a:bodyPr wrap="none" lIns="0" tIns="0" rIns="0" bIns="0" rtlCol="0" anchor="t"/>
          <a:lstStyle/>
          <a:p>
            <a:pPr algn="r" indent="0" marL="0">
              <a:lnSpc>
                <a:spcPct val="125000"/>
              </a:lnSpc>
              <a:buNone/>
            </a:pPr>
            <a:r>
              <a:rPr lang="en-US" sz="1000" dirty="0">
                <a:solidFill>
                  <a:srgbClr val="6B6690"/>
                </a:solidFill>
                <a:latin typeface="Arimo" pitchFamily="34" charset="0"/>
                <a:ea typeface="Arimo" pitchFamily="34" charset="-122"/>
                <a:cs typeface="Arimo" pitchFamily="34" charset="0"/>
              </a:rPr>
              <a:t>5 / 6</a:t>
            </a:r>
            <a:endParaRPr lang="en-US" sz="1000" dirty="0"/>
          </a:p>
        </p:txBody>
      </p:sp>
      <p:pic>
        <p:nvPicPr>
          <p:cNvPr id="5" name="Image 0" descr="preencoded.png">    </p:cNvPr>
          <p:cNvPicPr>
            <a:picLocks noChangeAspect="1"/>
          </p:cNvPicPr>
          <p:nvPr/>
        </p:nvPicPr>
        <p:blipFill>
          <a:blip r:embed="rId1"/>
          <a:stretch>
            <a:fillRect/>
          </a:stretch>
        </p:blipFill>
        <p:spPr>
          <a:xfrm>
            <a:off x="457189" y="6263580"/>
            <a:ext cx="411450" cy="411460"/>
          </a:xfrm>
          <a:prstGeom prst="rect">
            <a:avLst/>
          </a:prstGeom>
        </p:spPr>
      </p:pic>
      <p:sp>
        <p:nvSpPr>
          <p:cNvPr id="6" name="Text 3"/>
          <p:cNvSpPr/>
          <p:nvPr/>
        </p:nvSpPr>
        <p:spPr>
          <a:xfrm>
            <a:off x="1051395" y="6355060"/>
            <a:ext cx="9660291" cy="152400"/>
          </a:xfrm>
          <a:prstGeom prst="rect">
            <a:avLst/>
          </a:prstGeom>
          <a:noFill/>
          <a:ln/>
        </p:spPr>
        <p:txBody>
          <a:bodyPr wrap="none" lIns="0" tIns="0" rIns="0" bIns="0" rtlCol="0" anchor="t"/>
          <a:lstStyle/>
          <a:p>
            <a:pPr algn="l" indent="0" marL="0">
              <a:lnSpc>
                <a:spcPct val="125000"/>
              </a:lnSpc>
              <a:buNone/>
            </a:pPr>
            <a:r>
              <a:rPr lang="en-US" sz="800" dirty="0">
                <a:solidFill>
                  <a:srgbClr val="6B6690"/>
                </a:solidFill>
                <a:latin typeface="Arimo" pitchFamily="34" charset="0"/>
                <a:ea typeface="Arimo" pitchFamily="34" charset="-122"/>
                <a:cs typeface="Arimo" pitchFamily="34" charset="0"/>
              </a:rPr>
              <a:t>Indian Institute of Technology Gandhinagar · PG Diploma in AI-ML and Agentic AI Engineering · Cohort 2 · Build 1</a:t>
            </a:r>
            <a:endParaRPr lang="en-US" sz="800" dirty="0"/>
          </a:p>
        </p:txBody>
      </p:sp>
      <p:sp>
        <p:nvSpPr>
          <p:cNvPr id="7" name="Text 4"/>
          <p:cNvSpPr/>
          <p:nvPr/>
        </p:nvSpPr>
        <p:spPr>
          <a:xfrm>
            <a:off x="548567" y="618728"/>
            <a:ext cx="11155381" cy="365720"/>
          </a:xfrm>
          <a:prstGeom prst="rect">
            <a:avLst/>
          </a:prstGeom>
          <a:noFill/>
          <a:ln/>
        </p:spPr>
        <p:txBody>
          <a:bodyPr wrap="none" lIns="0" tIns="0" rIns="0" bIns="0" rtlCol="0" anchor="t"/>
          <a:lstStyle/>
          <a:p>
            <a:pPr algn="l" indent="0" marL="0">
              <a:lnSpc>
                <a:spcPct val="100000"/>
              </a:lnSpc>
              <a:buNone/>
            </a:pPr>
            <a:r>
              <a:rPr lang="en-US" sz="2400" b="1" dirty="0">
                <a:solidFill>
                  <a:srgbClr val="0F294A"/>
                </a:solidFill>
                <a:latin typeface="Gelasio Bold" pitchFamily="34" charset="0"/>
                <a:ea typeface="Gelasio Bold" pitchFamily="34" charset="-122"/>
                <a:cs typeface="Gelasio Bold" pitchFamily="34" charset="0"/>
              </a:rPr>
              <a:t>What would change the claim; the approach we rejected</a:t>
            </a:r>
            <a:endParaRPr lang="en-US" sz="2400" dirty="0"/>
          </a:p>
        </p:txBody>
      </p:sp>
      <p:sp>
        <p:nvSpPr>
          <p:cNvPr id="8" name="Text 5"/>
          <p:cNvSpPr/>
          <p:nvPr/>
        </p:nvSpPr>
        <p:spPr>
          <a:xfrm>
            <a:off x="548567" y="1692850"/>
            <a:ext cx="11643128" cy="198041"/>
          </a:xfrm>
          <a:prstGeom prst="rect">
            <a:avLst/>
          </a:prstGeom>
          <a:noFill/>
          <a:ln/>
        </p:spPr>
        <p:txBody>
          <a:bodyPr wrap="none" lIns="0" tIns="0" rIns="0" bIns="0" rtlCol="0" anchor="t"/>
          <a:lstStyle/>
          <a:p>
            <a:pPr algn="l" indent="0" marL="0">
              <a:lnSpc>
                <a:spcPct val="100000"/>
              </a:lnSpc>
              <a:buNone/>
            </a:pPr>
            <a:r>
              <a:rPr lang="en-US" sz="1300" b="1" dirty="0">
                <a:solidFill>
                  <a:srgbClr val="0F294A"/>
                </a:solidFill>
                <a:latin typeface="Arimo Bold" pitchFamily="34" charset="0"/>
                <a:ea typeface="Arimo Bold" pitchFamily="34" charset="-122"/>
                <a:cs typeface="Arimo Bold" pitchFamily="34" charset="0"/>
              </a:rPr>
              <a:t>The one thing that would change this claim:</a:t>
            </a:r>
            <a:endParaRPr lang="en-US" sz="1300" dirty="0"/>
          </a:p>
        </p:txBody>
      </p:sp>
      <p:sp>
        <p:nvSpPr>
          <p:cNvPr id="9" name="Text 6"/>
          <p:cNvSpPr/>
          <p:nvPr/>
        </p:nvSpPr>
        <p:spPr>
          <a:xfrm>
            <a:off x="548567" y="1891844"/>
            <a:ext cx="11098233" cy="738783"/>
          </a:xfrm>
          <a:prstGeom prst="rect">
            <a:avLst/>
          </a:prstGeom>
          <a:noFill/>
          <a:ln/>
        </p:spPr>
        <p:txBody>
          <a:bodyPr wrap="square" lIns="0" tIns="37972" rIns="0" bIns="0" rtlCol="0" anchor="t">
            <a:normAutofit/>
          </a:bodyPr>
          <a:lstStyle/>
          <a:p>
            <a:pPr algn="l" indent="0" marL="0">
              <a:lnSpc>
                <a:spcPct val="100000"/>
              </a:lnSpc>
              <a:buNone/>
            </a:pPr>
            <a:r>
              <a:rPr lang="en-US" sz="1150" dirty="0">
                <a:solidFill>
                  <a:srgbClr val="1E293B"/>
                </a:solidFill>
                <a:latin typeface="Arimo" pitchFamily="34" charset="0"/>
                <a:ea typeface="Arimo" pitchFamily="34" charset="-122"/>
                <a:cs typeface="Arimo" pitchFamily="34" charset="0"/>
              </a:rPr>
              <a:t>Package unbundling in lab accounting: a package (PK01–PK04) is logged as a single row in results tables.</a:t>
            </a:r>
            <a:endParaRPr lang="en-US" sz="1150" dirty="0"/>
          </a:p>
          <a:p>
            <a:pPr algn="l" indent="0" marL="0">
              <a:lnSpc>
                <a:spcPct val="100000"/>
              </a:lnSpc>
              <a:buNone/>
            </a:pPr>
            <a:r>
              <a:rPr lang="en-US" sz="1150" dirty="0">
                <a:solidFill>
                  <a:srgbClr val="1E293B"/>
                </a:solidFill>
                <a:latin typeface="Arimo" pitchFamily="34" charset="0"/>
                <a:ea typeface="Arimo" pitchFamily="34" charset="-122"/>
                <a:cs typeface="Arimo" pitchFamily="34" charset="0"/>
              </a:rPr>
              <a:t>If each package bundles 4 to 6 discrete clinical lab tests, true clinical test volume grew by ~11% to 13% rather than 5.75%.</a:t>
            </a:r>
            <a:endParaRPr lang="en-US" sz="1150" dirty="0"/>
          </a:p>
          <a:p>
            <a:pPr algn="l" indent="0" marL="0">
              <a:lnSpc>
                <a:spcPct val="100000"/>
              </a:lnSpc>
              <a:buNone/>
            </a:pPr>
            <a:r>
              <a:rPr lang="en-US" sz="1150" dirty="0">
                <a:solidFill>
                  <a:srgbClr val="1E293B"/>
                </a:solidFill>
                <a:latin typeface="Arimo" pitchFamily="34" charset="0"/>
                <a:ea typeface="Arimo" pitchFamily="34" charset="-122"/>
                <a:cs typeface="Arimo" pitchFamily="34" charset="0"/>
              </a:rPr>
              <a:t>That would make the home wellness transition even more dominant.</a:t>
            </a:r>
            <a:endParaRPr lang="en-US" sz="1150" dirty="0"/>
          </a:p>
          <a:p>
            <a:pPr algn="l" indent="0" marL="0">
              <a:lnSpc>
                <a:spcPct val="100000"/>
              </a:lnSpc>
              <a:buNone/>
            </a:pPr>
            <a:r>
              <a:rPr lang="en-US" sz="1150" dirty="0">
                <a:solidFill>
                  <a:srgbClr val="1E293B"/>
                </a:solidFill>
                <a:latin typeface="Arimo" pitchFamily="34" charset="0"/>
                <a:ea typeface="Arimo" pitchFamily="34" charset="-122"/>
                <a:cs typeface="Arimo" pitchFamily="34" charset="0"/>
              </a:rPr>
              <a:t>Also: 3,720 orphan results without bookings add +0.03 pp, and 94 null test codes remain UNKNOWN.</a:t>
            </a:r>
            <a:endParaRPr lang="en-US" sz="1150" dirty="0"/>
          </a:p>
        </p:txBody>
      </p:sp>
      <p:sp>
        <p:nvSpPr>
          <p:cNvPr id="10" name="Text 7"/>
          <p:cNvSpPr/>
          <p:nvPr/>
        </p:nvSpPr>
        <p:spPr>
          <a:xfrm>
            <a:off x="548567" y="2629674"/>
            <a:ext cx="11098233" cy="376337"/>
          </a:xfrm>
          <a:prstGeom prst="rect">
            <a:avLst/>
          </a:prstGeom>
          <a:noFill/>
          <a:ln/>
        </p:spPr>
        <p:txBody>
          <a:bodyPr wrap="square" lIns="0" tIns="178304" rIns="0" bIns="0" rtlCol="0" anchor="t">
            <a:normAutofit/>
          </a:bodyPr>
          <a:lstStyle/>
          <a:p>
            <a:pPr algn="l" indent="0" marL="0">
              <a:lnSpc>
                <a:spcPct val="100000"/>
              </a:lnSpc>
              <a:buNone/>
            </a:pPr>
            <a:r>
              <a:rPr lang="en-US" sz="1300" b="1" dirty="0">
                <a:solidFill>
                  <a:srgbClr val="0F294A"/>
                </a:solidFill>
                <a:latin typeface="Arimo Bold" pitchFamily="34" charset="0"/>
                <a:ea typeface="Arimo Bold" pitchFamily="34" charset="-122"/>
                <a:cs typeface="Arimo Bold" pitchFamily="34" charset="0"/>
              </a:rPr>
              <a:t>The approach we rejected on the way here:</a:t>
            </a:r>
            <a:endParaRPr lang="en-US" sz="1300" dirty="0"/>
          </a:p>
        </p:txBody>
      </p:sp>
      <p:sp>
        <p:nvSpPr>
          <p:cNvPr id="11" name="Text 8"/>
          <p:cNvSpPr/>
          <p:nvPr/>
        </p:nvSpPr>
        <p:spPr>
          <a:xfrm>
            <a:off x="548567" y="3006963"/>
            <a:ext cx="11098233" cy="1264444"/>
          </a:xfrm>
          <a:prstGeom prst="rect">
            <a:avLst/>
          </a:prstGeom>
          <a:noFill/>
          <a:ln/>
        </p:spPr>
        <p:txBody>
          <a:bodyPr wrap="square" lIns="0" tIns="37972" rIns="0" bIns="0" rtlCol="0" anchor="t">
            <a:normAutofit/>
          </a:bodyPr>
          <a:lstStyle/>
          <a:p>
            <a:pPr algn="l" indent="0" marL="0">
              <a:lnSpc>
                <a:spcPct val="100000"/>
              </a:lnSpc>
              <a:buNone/>
            </a:pPr>
            <a:r>
              <a:rPr lang="en-US" sz="1150" dirty="0">
                <a:solidFill>
                  <a:srgbClr val="1E293B"/>
                </a:solidFill>
                <a:latin typeface="Arimo" pitchFamily="34" charset="0"/>
                <a:ea typeface="Arimo" pitchFamily="34" charset="-122"/>
                <a:cs typeface="Arimo" pitchFamily="34" charset="0"/>
              </a:rPr>
              <a:t>Attributing Jaipur and Chennai shortfalls to the Nova software migration in April 2026 did not hold up.</a:t>
            </a:r>
            <a:endParaRPr lang="en-US" sz="1150" dirty="0"/>
          </a:p>
          <a:p>
            <a:pPr algn="l" indent="0" marL="0">
              <a:lnSpc>
                <a:spcPct val="100000"/>
              </a:lnSpc>
              <a:buNone/>
            </a:pPr>
            <a:r>
              <a:rPr lang="en-US" sz="1150" dirty="0">
                <a:solidFill>
                  <a:srgbClr val="1E293B"/>
                </a:solidFill>
                <a:latin typeface="Arimo" pitchFamily="34" charset="0"/>
                <a:ea typeface="Arimo" pitchFamily="34" charset="-122"/>
                <a:cs typeface="Arimo" pitchFamily="34" charset="0"/>
              </a:rPr>
              <a:t>Four checks disproved it:</a:t>
            </a:r>
            <a:endParaRPr lang="en-US" sz="1150" dirty="0"/>
          </a:p>
          <a:p>
            <a:pPr algn="l" indent="0" marL="0">
              <a:lnSpc>
                <a:spcPct val="100000"/>
              </a:lnSpc>
              <a:buNone/>
            </a:pPr>
            <a:r>
              <a:rPr lang="en-US" sz="1150" dirty="0">
                <a:solidFill>
                  <a:srgbClr val="1E293B"/>
                </a:solidFill>
                <a:latin typeface="Arimo" pitchFamily="34" charset="0"/>
                <a:ea typeface="Arimo" pitchFamily="34" charset="-122"/>
                <a:cs typeface="Arimo" pitchFamily="34" charset="0"/>
              </a:rPr>
              <a:t>(1) The growth deficit was already present in January 2026 (-0.2% vs +9.5% other cities), 3 months before Nova launched</a:t>
            </a:r>
            <a:endParaRPr lang="en-US" sz="1150" dirty="0"/>
          </a:p>
          <a:p>
            <a:pPr algn="l" indent="0" marL="0">
              <a:lnSpc>
                <a:spcPct val="100000"/>
              </a:lnSpc>
              <a:buNone/>
            </a:pPr>
            <a:r>
              <a:rPr lang="en-US" sz="1150" dirty="0">
                <a:solidFill>
                  <a:srgbClr val="1E293B"/>
                </a:solidFill>
                <a:latin typeface="Arimo" pitchFamily="34" charset="0"/>
                <a:ea typeface="Arimo" pitchFamily="34" charset="-122"/>
                <a:cs typeface="Arimo" pitchFamily="34" charset="0"/>
              </a:rPr>
              <a:t>(2) Returning patient retention is actually higher (37.4% &amp; 35.8% vs ~30%)</a:t>
            </a:r>
            <a:endParaRPr lang="en-US" sz="1150" dirty="0"/>
          </a:p>
          <a:p>
            <a:pPr algn="l" indent="0" marL="0">
              <a:lnSpc>
                <a:spcPct val="100000"/>
              </a:lnSpc>
              <a:buNone/>
            </a:pPr>
            <a:r>
              <a:rPr lang="en-US" sz="1150" dirty="0">
                <a:solidFill>
                  <a:srgbClr val="1E293B"/>
                </a:solidFill>
                <a:latin typeface="Arimo" pitchFamily="34" charset="0"/>
                <a:ea typeface="Arimo" pitchFamily="34" charset="-122"/>
                <a:cs typeface="Arimo" pitchFamily="34" charset="0"/>
              </a:rPr>
              <a:t>(3) Patient ID syntax is identical</a:t>
            </a:r>
            <a:endParaRPr lang="en-US" sz="1150" dirty="0"/>
          </a:p>
          <a:p>
            <a:pPr algn="l" indent="0" marL="0">
              <a:lnSpc>
                <a:spcPct val="100000"/>
              </a:lnSpc>
              <a:buNone/>
            </a:pPr>
            <a:r>
              <a:rPr lang="en-US" sz="1150" dirty="0">
                <a:solidFill>
                  <a:srgbClr val="1E293B"/>
                </a:solidFill>
                <a:latin typeface="Arimo" pitchFamily="34" charset="0"/>
                <a:ea typeface="Arimo" pitchFamily="34" charset="-122"/>
                <a:cs typeface="Arimo" pitchFamily="34" charset="0"/>
              </a:rPr>
              <a:t>(4) Lab fulfilment (results per test booked) remained unaffected at 0.82–0.83</a:t>
            </a:r>
            <a:endParaRPr lang="en-US" sz="1150" dirty="0"/>
          </a:p>
          <a:p>
            <a:pPr algn="l" indent="0" marL="0">
              <a:lnSpc>
                <a:spcPct val="100000"/>
              </a:lnSpc>
              <a:buNone/>
            </a:pPr>
            <a:r>
              <a:rPr lang="en-US" sz="1150" dirty="0">
                <a:solidFill>
                  <a:srgbClr val="1E293B"/>
                </a:solidFill>
                <a:latin typeface="Arimo" pitchFamily="34" charset="0"/>
                <a:ea typeface="Arimo" pitchFamily="34" charset="-122"/>
                <a:cs typeface="Arimo" pitchFamily="34" charset="0"/>
              </a:rPr>
              <a:t>The problem is commercial demand and patient acquisition, not IT.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397" cy="73124"/>
          </a:xfrm>
          <a:prstGeom prst="roundRect">
            <a:avLst>
              <a:gd name="adj" fmla="val 9587"/>
            </a:avLst>
          </a:prstGeom>
          <a:solidFill>
            <a:srgbClr val="4E38AB"/>
          </a:solidFill>
          <a:ln/>
          <a:effectLst>
            <a:outerShdw sx="100000" sy="100000" kx="0" ky="0" algn="bl" rotWithShape="0" blurRad="39370" dist="22860" dir="5400000">
              <a:srgbClr val="000000">
                <a:alpha val="30000"/>
              </a:srgbClr>
            </a:outerShdw>
          </a:effectLst>
        </p:spPr>
      </p:sp>
      <p:sp>
        <p:nvSpPr>
          <p:cNvPr id="3" name="Text 1"/>
          <p:cNvSpPr/>
          <p:nvPr/>
        </p:nvSpPr>
        <p:spPr>
          <a:xfrm>
            <a:off x="548567" y="274241"/>
            <a:ext cx="7813182" cy="190500"/>
          </a:xfrm>
          <a:prstGeom prst="rect">
            <a:avLst/>
          </a:prstGeom>
          <a:noFill/>
          <a:ln/>
        </p:spPr>
        <p:txBody>
          <a:bodyPr wrap="none" lIns="0" tIns="0" rIns="0" bIns="0" rtlCol="0" anchor="t"/>
          <a:lstStyle/>
          <a:p>
            <a:pPr algn="l" indent="0" marL="0">
              <a:lnSpc>
                <a:spcPct val="125000"/>
              </a:lnSpc>
              <a:buNone/>
            </a:pPr>
            <a:r>
              <a:rPr lang="en-US" sz="1000" b="1" dirty="0">
                <a:solidFill>
                  <a:srgbClr val="4E38AB"/>
                </a:solidFill>
                <a:latin typeface="Arimo Bold" pitchFamily="34" charset="0"/>
                <a:ea typeface="Arimo Bold" pitchFamily="34" charset="-122"/>
                <a:cs typeface="Arimo Bold" pitchFamily="34" charset="0"/>
              </a:rPr>
              <a:t>6 · THE ACTION</a:t>
            </a:r>
            <a:endParaRPr lang="en-US" sz="1000" dirty="0"/>
          </a:p>
        </p:txBody>
      </p:sp>
      <p:sp>
        <p:nvSpPr>
          <p:cNvPr id="4" name="Text 2"/>
          <p:cNvSpPr/>
          <p:nvPr/>
        </p:nvSpPr>
        <p:spPr>
          <a:xfrm>
            <a:off x="9814176" y="274241"/>
            <a:ext cx="1924002" cy="190500"/>
          </a:xfrm>
          <a:prstGeom prst="rect">
            <a:avLst/>
          </a:prstGeom>
          <a:noFill/>
          <a:ln/>
        </p:spPr>
        <p:txBody>
          <a:bodyPr wrap="none" lIns="0" tIns="0" rIns="0" bIns="0" rtlCol="0" anchor="t"/>
          <a:lstStyle/>
          <a:p>
            <a:pPr algn="r" indent="0" marL="0">
              <a:lnSpc>
                <a:spcPct val="125000"/>
              </a:lnSpc>
              <a:buNone/>
            </a:pPr>
            <a:r>
              <a:rPr lang="en-US" sz="1000" dirty="0">
                <a:solidFill>
                  <a:srgbClr val="6B6690"/>
                </a:solidFill>
                <a:latin typeface="Arimo" pitchFamily="34" charset="0"/>
                <a:ea typeface="Arimo" pitchFamily="34" charset="-122"/>
                <a:cs typeface="Arimo" pitchFamily="34" charset="0"/>
              </a:rPr>
              <a:t>6 / 6</a:t>
            </a:r>
            <a:endParaRPr lang="en-US" sz="1000" dirty="0"/>
          </a:p>
        </p:txBody>
      </p:sp>
      <p:pic>
        <p:nvPicPr>
          <p:cNvPr id="5" name="Image 0" descr="preencoded.png">    </p:cNvPr>
          <p:cNvPicPr>
            <a:picLocks noChangeAspect="1"/>
          </p:cNvPicPr>
          <p:nvPr/>
        </p:nvPicPr>
        <p:blipFill>
          <a:blip r:embed="rId1"/>
          <a:stretch>
            <a:fillRect/>
          </a:stretch>
        </p:blipFill>
        <p:spPr>
          <a:xfrm>
            <a:off x="457189" y="6263580"/>
            <a:ext cx="411450" cy="411460"/>
          </a:xfrm>
          <a:prstGeom prst="rect">
            <a:avLst/>
          </a:prstGeom>
        </p:spPr>
      </p:pic>
      <p:sp>
        <p:nvSpPr>
          <p:cNvPr id="6" name="Text 3"/>
          <p:cNvSpPr/>
          <p:nvPr/>
        </p:nvSpPr>
        <p:spPr>
          <a:xfrm>
            <a:off x="1051395" y="6355060"/>
            <a:ext cx="9660291" cy="152400"/>
          </a:xfrm>
          <a:prstGeom prst="rect">
            <a:avLst/>
          </a:prstGeom>
          <a:noFill/>
          <a:ln/>
        </p:spPr>
        <p:txBody>
          <a:bodyPr wrap="none" lIns="0" tIns="0" rIns="0" bIns="0" rtlCol="0" anchor="t"/>
          <a:lstStyle/>
          <a:p>
            <a:pPr algn="l" indent="0" marL="0">
              <a:lnSpc>
                <a:spcPct val="125000"/>
              </a:lnSpc>
              <a:buNone/>
            </a:pPr>
            <a:r>
              <a:rPr lang="en-US" sz="800" dirty="0">
                <a:solidFill>
                  <a:srgbClr val="6B6690"/>
                </a:solidFill>
                <a:latin typeface="Arimo" pitchFamily="34" charset="0"/>
                <a:ea typeface="Arimo" pitchFamily="34" charset="-122"/>
                <a:cs typeface="Arimo" pitchFamily="34" charset="0"/>
              </a:rPr>
              <a:t>Indian Institute of Technology Gandhinagar · PG Diploma in AI-ML and Agentic AI Engineering · Cohort 2 · Build 1</a:t>
            </a:r>
            <a:endParaRPr lang="en-US" sz="800" dirty="0"/>
          </a:p>
        </p:txBody>
      </p:sp>
      <p:sp>
        <p:nvSpPr>
          <p:cNvPr id="7" name="Text 4"/>
          <p:cNvSpPr/>
          <p:nvPr/>
        </p:nvSpPr>
        <p:spPr>
          <a:xfrm>
            <a:off x="548567" y="618728"/>
            <a:ext cx="11155381" cy="365720"/>
          </a:xfrm>
          <a:prstGeom prst="rect">
            <a:avLst/>
          </a:prstGeom>
          <a:noFill/>
          <a:ln/>
        </p:spPr>
        <p:txBody>
          <a:bodyPr wrap="none" lIns="0" tIns="0" rIns="0" bIns="0" rtlCol="0" anchor="t"/>
          <a:lstStyle/>
          <a:p>
            <a:pPr algn="l" indent="0" marL="0">
              <a:lnSpc>
                <a:spcPct val="100000"/>
              </a:lnSpc>
              <a:buNone/>
            </a:pPr>
            <a:r>
              <a:rPr lang="en-US" sz="2400" b="1" dirty="0">
                <a:solidFill>
                  <a:srgbClr val="0F294A"/>
                </a:solidFill>
                <a:latin typeface="Gelasio Bold" pitchFamily="34" charset="0"/>
                <a:ea typeface="Gelasio Bold" pitchFamily="34" charset="-122"/>
                <a:cs typeface="Gelasio Bold" pitchFamily="34" charset="0"/>
              </a:rPr>
              <a:t>What to do, what it costs, what being wrong costs</a:t>
            </a:r>
            <a:endParaRPr lang="en-US" sz="2400" dirty="0"/>
          </a:p>
        </p:txBody>
      </p:sp>
      <p:sp>
        <p:nvSpPr>
          <p:cNvPr id="8" name="Text 5"/>
          <p:cNvSpPr/>
          <p:nvPr/>
        </p:nvSpPr>
        <p:spPr>
          <a:xfrm>
            <a:off x="548567" y="1685230"/>
            <a:ext cx="11643128" cy="190500"/>
          </a:xfrm>
          <a:prstGeom prst="rect">
            <a:avLst/>
          </a:prstGeom>
          <a:noFill/>
          <a:ln/>
        </p:spPr>
        <p:txBody>
          <a:bodyPr wrap="none" lIns="0" tIns="0" rIns="0" bIns="0" rtlCol="0" anchor="t"/>
          <a:lstStyle/>
          <a:p>
            <a:pPr algn="l" indent="0" marL="0">
              <a:lnSpc>
                <a:spcPct val="100000"/>
              </a:lnSpc>
              <a:buNone/>
            </a:pPr>
            <a:r>
              <a:rPr lang="en-US" sz="1250" b="1" dirty="0">
                <a:solidFill>
                  <a:srgbClr val="0F294A"/>
                </a:solidFill>
                <a:latin typeface="Arimo Bold" pitchFamily="34" charset="0"/>
                <a:ea typeface="Arimo Bold" pitchFamily="34" charset="-122"/>
                <a:cs typeface="Arimo Bold" pitchFamily="34" charset="0"/>
              </a:rPr>
              <a:t>Do (on Monday morning):</a:t>
            </a:r>
            <a:endParaRPr lang="en-US" sz="1250" dirty="0"/>
          </a:p>
        </p:txBody>
      </p:sp>
      <p:sp>
        <p:nvSpPr>
          <p:cNvPr id="9" name="Text 6"/>
          <p:cNvSpPr/>
          <p:nvPr/>
        </p:nvSpPr>
        <p:spPr>
          <a:xfrm>
            <a:off x="548567" y="1875730"/>
            <a:ext cx="11098233" cy="527844"/>
          </a:xfrm>
          <a:prstGeom prst="rect">
            <a:avLst/>
          </a:prstGeom>
          <a:noFill/>
          <a:ln/>
        </p:spPr>
        <p:txBody>
          <a:bodyPr wrap="square" lIns="0" tIns="25145" rIns="0" bIns="0" rtlCol="0" anchor="t">
            <a:normAutofit/>
          </a:bodyPr>
          <a:lstStyle/>
          <a:p>
            <a:pPr algn="l" indent="0" marL="0">
              <a:lnSpc>
                <a:spcPct val="100000"/>
              </a:lnSpc>
              <a:buNone/>
            </a:pPr>
            <a:r>
              <a:rPr lang="en-US" sz="1100" dirty="0">
                <a:solidFill>
                  <a:srgbClr val="1E293B"/>
                </a:solidFill>
                <a:latin typeface="Arimo" pitchFamily="34" charset="0"/>
                <a:ea typeface="Arimo" pitchFamily="34" charset="-122"/>
                <a:cs typeface="Arimo" pitchFamily="34" charset="0"/>
              </a:rPr>
              <a:t>(1) Reallocate digital acquisition spend directly to patient acquisition in Jaipur and Chennai</a:t>
            </a:r>
            <a:endParaRPr lang="en-US" sz="1100" dirty="0"/>
          </a:p>
          <a:p>
            <a:pPr algn="l" indent="0" marL="0">
              <a:lnSpc>
                <a:spcPct val="100000"/>
              </a:lnSpc>
              <a:buNone/>
            </a:pPr>
            <a:r>
              <a:rPr lang="en-US" sz="1100" dirty="0">
                <a:solidFill>
                  <a:srgbClr val="1E293B"/>
                </a:solidFill>
                <a:latin typeface="Arimo" pitchFamily="34" charset="0"/>
                <a:ea typeface="Arimo" pitchFamily="34" charset="-122"/>
                <a:cs typeface="Arimo" pitchFamily="34" charset="0"/>
              </a:rPr>
              <a:t>(2) Expand home collection phlebotomist capacity by 25% across Bengaluru, Pune, and Ahmedabad</a:t>
            </a:r>
            <a:endParaRPr lang="en-US" sz="1100" dirty="0"/>
          </a:p>
          <a:p>
            <a:pPr algn="l" indent="0" marL="0">
              <a:lnSpc>
                <a:spcPct val="100000"/>
              </a:lnSpc>
              <a:buNone/>
            </a:pPr>
            <a:r>
              <a:rPr lang="en-US" sz="1100" dirty="0">
                <a:solidFill>
                  <a:srgbClr val="1E293B"/>
                </a:solidFill>
                <a:latin typeface="Arimo" pitchFamily="34" charset="0"/>
                <a:ea typeface="Arimo" pitchFamily="34" charset="-122"/>
                <a:cs typeface="Arimo" pitchFamily="34" charset="0"/>
              </a:rPr>
              <a:t>(3) Bundle routine single tests into wellness packages.</a:t>
            </a:r>
            <a:endParaRPr lang="en-US" sz="1100" dirty="0"/>
          </a:p>
        </p:txBody>
      </p:sp>
      <p:sp>
        <p:nvSpPr>
          <p:cNvPr id="10" name="Text 7"/>
          <p:cNvSpPr/>
          <p:nvPr/>
        </p:nvSpPr>
        <p:spPr>
          <a:xfrm>
            <a:off x="548567" y="2403574"/>
            <a:ext cx="11098233" cy="317500"/>
          </a:xfrm>
          <a:prstGeom prst="rect">
            <a:avLst/>
          </a:prstGeom>
          <a:noFill/>
          <a:ln/>
        </p:spPr>
        <p:txBody>
          <a:bodyPr wrap="square" lIns="0" tIns="126997" rIns="0" bIns="0" rtlCol="0" anchor="t">
            <a:normAutofit/>
          </a:bodyPr>
          <a:lstStyle/>
          <a:p>
            <a:pPr algn="l" indent="0" marL="0">
              <a:lnSpc>
                <a:spcPct val="100000"/>
              </a:lnSpc>
              <a:buNone/>
            </a:pPr>
            <a:r>
              <a:rPr lang="en-US" sz="1250" b="1" dirty="0">
                <a:solidFill>
                  <a:srgbClr val="0F294A"/>
                </a:solidFill>
                <a:latin typeface="Arimo Bold" pitchFamily="34" charset="0"/>
                <a:ea typeface="Arimo Bold" pitchFamily="34" charset="-122"/>
                <a:cs typeface="Arimo Bold" pitchFamily="34" charset="0"/>
              </a:rPr>
              <a:t>It costs:</a:t>
            </a:r>
            <a:endParaRPr lang="en-US" sz="1250" dirty="0"/>
          </a:p>
        </p:txBody>
      </p:sp>
      <p:sp>
        <p:nvSpPr>
          <p:cNvPr id="11" name="Text 8"/>
          <p:cNvSpPr/>
          <p:nvPr/>
        </p:nvSpPr>
        <p:spPr>
          <a:xfrm>
            <a:off x="548567" y="2721074"/>
            <a:ext cx="11643128" cy="192683"/>
          </a:xfrm>
          <a:prstGeom prst="rect">
            <a:avLst/>
          </a:prstGeom>
          <a:noFill/>
          <a:ln/>
        </p:spPr>
        <p:txBody>
          <a:bodyPr wrap="none" lIns="0" tIns="25145" rIns="0" bIns="0" rtlCol="0" anchor="t"/>
          <a:lstStyle/>
          <a:p>
            <a:pPr algn="l" indent="0" marL="0">
              <a:lnSpc>
                <a:spcPct val="100000"/>
              </a:lnSpc>
              <a:buNone/>
            </a:pPr>
            <a:r>
              <a:rPr lang="en-US" sz="1100" dirty="0">
                <a:solidFill>
                  <a:srgbClr val="1E293B"/>
                </a:solidFill>
                <a:latin typeface="Arimo" pitchFamily="34" charset="0"/>
                <a:ea typeface="Arimo" pitchFamily="34" charset="-122"/>
                <a:cs typeface="Arimo" pitchFamily="34" charset="0"/>
              </a:rPr>
              <a:t>Reallocating ~Rs 15–20 Lakhs of existing H2 acquisition spend + onboarding ~30 contract phlebotomists (~Rs 9 Lakhs/month variable labor).</a:t>
            </a:r>
            <a:endParaRPr lang="en-US" sz="1100" dirty="0"/>
          </a:p>
        </p:txBody>
      </p:sp>
      <p:sp>
        <p:nvSpPr>
          <p:cNvPr id="12" name="Text 9"/>
          <p:cNvSpPr/>
          <p:nvPr/>
        </p:nvSpPr>
        <p:spPr>
          <a:xfrm>
            <a:off x="548567" y="2913757"/>
            <a:ext cx="11098233" cy="317500"/>
          </a:xfrm>
          <a:prstGeom prst="rect">
            <a:avLst/>
          </a:prstGeom>
          <a:noFill/>
          <a:ln/>
        </p:spPr>
        <p:txBody>
          <a:bodyPr wrap="square" lIns="0" tIns="126997" rIns="0" bIns="0" rtlCol="0" anchor="t">
            <a:normAutofit/>
          </a:bodyPr>
          <a:lstStyle/>
          <a:p>
            <a:pPr algn="l" indent="0" marL="0">
              <a:lnSpc>
                <a:spcPct val="100000"/>
              </a:lnSpc>
              <a:buNone/>
            </a:pPr>
            <a:r>
              <a:rPr lang="en-US" sz="1250" b="1" dirty="0">
                <a:solidFill>
                  <a:srgbClr val="0F294A"/>
                </a:solidFill>
                <a:latin typeface="Arimo Bold" pitchFamily="34" charset="0"/>
                <a:ea typeface="Arimo Bold" pitchFamily="34" charset="-122"/>
                <a:cs typeface="Arimo Bold" pitchFamily="34" charset="0"/>
              </a:rPr>
              <a:t>If we are wrong, it costs:</a:t>
            </a:r>
            <a:endParaRPr lang="en-US" sz="1250" dirty="0"/>
          </a:p>
        </p:txBody>
      </p:sp>
      <p:sp>
        <p:nvSpPr>
          <p:cNvPr id="13" name="Text 10"/>
          <p:cNvSpPr/>
          <p:nvPr/>
        </p:nvSpPr>
        <p:spPr>
          <a:xfrm>
            <a:off x="548567" y="3231257"/>
            <a:ext cx="11643128" cy="192683"/>
          </a:xfrm>
          <a:prstGeom prst="rect">
            <a:avLst/>
          </a:prstGeom>
          <a:noFill/>
          <a:ln/>
        </p:spPr>
        <p:txBody>
          <a:bodyPr wrap="none" lIns="0" tIns="25145" rIns="0" bIns="0" rtlCol="0" anchor="t"/>
          <a:lstStyle/>
          <a:p>
            <a:pPr algn="l" indent="0" marL="0">
              <a:lnSpc>
                <a:spcPct val="100000"/>
              </a:lnSpc>
              <a:buNone/>
            </a:pPr>
            <a:r>
              <a:rPr lang="en-US" sz="1100" dirty="0">
                <a:solidFill>
                  <a:srgbClr val="1E293B"/>
                </a:solidFill>
                <a:latin typeface="Arimo" pitchFamily="34" charset="0"/>
                <a:ea typeface="Arimo" pitchFamily="34" charset="-122"/>
                <a:cs typeface="Arimo" pitchFamily="34" charset="0"/>
              </a:rPr>
              <a:t>Temporary excess phlebotomist idle hours in Q3 (which can be downscaled within 30 days), compared to the severe permanent penalty of losing clinic volume with no home offset.</a:t>
            </a:r>
            <a:endParaRPr lang="en-US" sz="1100" dirty="0"/>
          </a:p>
        </p:txBody>
      </p:sp>
      <p:sp>
        <p:nvSpPr>
          <p:cNvPr id="14" name="Text 11"/>
          <p:cNvSpPr/>
          <p:nvPr/>
        </p:nvSpPr>
        <p:spPr>
          <a:xfrm>
            <a:off x="548567" y="3423940"/>
            <a:ext cx="11098233" cy="317500"/>
          </a:xfrm>
          <a:prstGeom prst="rect">
            <a:avLst/>
          </a:prstGeom>
          <a:noFill/>
          <a:ln/>
        </p:spPr>
        <p:txBody>
          <a:bodyPr wrap="square" lIns="0" tIns="126997" rIns="0" bIns="0" rtlCol="0" anchor="t">
            <a:normAutofit/>
          </a:bodyPr>
          <a:lstStyle/>
          <a:p>
            <a:pPr algn="l" indent="0" marL="0">
              <a:lnSpc>
                <a:spcPct val="100000"/>
              </a:lnSpc>
              <a:buNone/>
            </a:pPr>
            <a:r>
              <a:rPr lang="en-US" sz="1250" b="1" dirty="0">
                <a:solidFill>
                  <a:srgbClr val="0F294A"/>
                </a:solidFill>
                <a:latin typeface="Arimo Bold" pitchFamily="34" charset="0"/>
                <a:ea typeface="Arimo Bold" pitchFamily="34" charset="-122"/>
                <a:cs typeface="Arimo Bold" pitchFamily="34" charset="0"/>
              </a:rPr>
              <a:t>What we would do with two more days:</a:t>
            </a:r>
            <a:endParaRPr lang="en-US" sz="1250" dirty="0"/>
          </a:p>
        </p:txBody>
      </p:sp>
      <p:sp>
        <p:nvSpPr>
          <p:cNvPr id="15" name="Text 12"/>
          <p:cNvSpPr/>
          <p:nvPr/>
        </p:nvSpPr>
        <p:spPr>
          <a:xfrm>
            <a:off x="548567" y="3741440"/>
            <a:ext cx="11643128" cy="192683"/>
          </a:xfrm>
          <a:prstGeom prst="rect">
            <a:avLst/>
          </a:prstGeom>
          <a:noFill/>
          <a:ln/>
        </p:spPr>
        <p:txBody>
          <a:bodyPr wrap="none" lIns="0" tIns="25145" rIns="0" bIns="0" rtlCol="0" anchor="t"/>
          <a:lstStyle/>
          <a:p>
            <a:pPr algn="l" indent="0" marL="0">
              <a:lnSpc>
                <a:spcPct val="100000"/>
              </a:lnSpc>
              <a:buNone/>
            </a:pPr>
            <a:r>
              <a:rPr lang="en-US" sz="1100" dirty="0">
                <a:solidFill>
                  <a:srgbClr val="1E293B"/>
                </a:solidFill>
                <a:latin typeface="Arimo" pitchFamily="34" charset="0"/>
                <a:ea typeface="Arimo" pitchFamily="34" charset="-122"/>
                <a:cs typeface="Arimo" pitchFamily="34" charset="0"/>
              </a:rPr>
              <a:t>Connect billing and settlement tables to calculate unit contribution margin per home visit vs clinic visit, accounting for the Rs 150 home fee versus clinic fixed real estate overhead.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39945" y="2494260"/>
            <a:ext cx="10881247" cy="609600"/>
          </a:xfrm>
          <a:prstGeom prst="rect">
            <a:avLst/>
          </a:prstGeom>
          <a:noFill/>
          <a:ln/>
        </p:spPr>
        <p:txBody>
          <a:bodyPr wrap="none" lIns="0" tIns="0" rIns="0" bIns="0" rtlCol="0" anchor="t"/>
          <a:lstStyle/>
          <a:p>
            <a:pPr algn="l" indent="0" marL="0">
              <a:lnSpc>
                <a:spcPct val="100000"/>
              </a:lnSpc>
              <a:buNone/>
            </a:pPr>
            <a:r>
              <a:rPr lang="en-US" sz="4000" b="1" dirty="0">
                <a:solidFill>
                  <a:srgbClr val="FFFFFF"/>
                </a:solidFill>
                <a:latin typeface="Gelasio Bold" pitchFamily="34" charset="0"/>
                <a:ea typeface="Gelasio Bold" pitchFamily="34" charset="-122"/>
                <a:cs typeface="Gelasio Bold" pitchFamily="34" charset="0"/>
              </a:rPr>
              <a:t>Questions</a:t>
            </a:r>
            <a:endParaRPr lang="en-US" sz="4000" dirty="0"/>
          </a:p>
        </p:txBody>
      </p:sp>
      <p:sp>
        <p:nvSpPr>
          <p:cNvPr id="3" name="Text 1"/>
          <p:cNvSpPr/>
          <p:nvPr/>
        </p:nvSpPr>
        <p:spPr>
          <a:xfrm>
            <a:off x="639945" y="3696891"/>
            <a:ext cx="10576454" cy="213320"/>
          </a:xfrm>
          <a:prstGeom prst="rect">
            <a:avLst/>
          </a:prstGeom>
          <a:noFill/>
          <a:ln/>
        </p:spPr>
        <p:txBody>
          <a:bodyPr wrap="none" lIns="0" tIns="0" rIns="0" bIns="0" rtlCol="0" anchor="t"/>
          <a:lstStyle/>
          <a:p>
            <a:pPr algn="l" indent="0" marL="0">
              <a:lnSpc>
                <a:spcPct val="100000"/>
              </a:lnSpc>
              <a:buNone/>
            </a:pPr>
            <a:r>
              <a:rPr lang="en-US" sz="1400" dirty="0">
                <a:solidFill>
                  <a:srgbClr val="808080"/>
                </a:solidFill>
                <a:latin typeface="Arimo" pitchFamily="34" charset="0"/>
                <a:ea typeface="Arimo" pitchFamily="34" charset="-122"/>
                <a:cs typeface="Arimo" pitchFamily="34" charset="0"/>
              </a:rPr>
              <a:t>The approach log, decisions log, and challenges log are open in the repository</a:t>
            </a:r>
            <a:pPr algn="l" indent="0" marL="0">
              <a:lnSpc>
                <a:spcPct val="100000"/>
              </a:lnSpc>
              <a:buNone/>
            </a:pPr>
            <a:r>
              <a:rPr lang="en-US" sz="1400" dirty="0">
                <a:solidFill>
                  <a:srgbClr val="1E293B"/>
                </a:solidFill>
                <a:latin typeface="Arimo" pitchFamily="34" charset="0"/>
                <a:ea typeface="Arimo" pitchFamily="34" charset="-122"/>
                <a:cs typeface="Arimo" pitchFamily="34" charset="0"/>
              </a:rPr>
              <a:t>:</a:t>
            </a:r>
            <a:endParaRPr lang="en-US" sz="1400" dirty="0"/>
          </a:p>
        </p:txBody>
      </p:sp>
      <p:sp>
        <p:nvSpPr>
          <p:cNvPr id="4" name="Text 2"/>
          <p:cNvSpPr/>
          <p:nvPr/>
        </p:nvSpPr>
        <p:spPr>
          <a:xfrm>
            <a:off x="639945" y="4049276"/>
            <a:ext cx="10576454" cy="243780"/>
          </a:xfrm>
          <a:prstGeom prst="rect">
            <a:avLst/>
          </a:prstGeom>
          <a:noFill/>
          <a:ln/>
        </p:spPr>
        <p:txBody>
          <a:bodyPr wrap="none" lIns="0" tIns="0" rIns="0" bIns="0" rtlCol="0" anchor="t"/>
          <a:lstStyle/>
          <a:p>
            <a:pPr algn="l" indent="0" marL="0">
              <a:lnSpc>
                <a:spcPct val="100000"/>
              </a:lnSpc>
              <a:buNone/>
            </a:pPr>
            <a:r>
              <a:rPr lang="en-US" sz="1600" b="1" dirty="0">
                <a:solidFill>
                  <a:srgbClr val="0284C7"/>
                </a:solidFill>
                <a:latin typeface="Arimo Bold" pitchFamily="34" charset="0"/>
                <a:ea typeface="Arimo Bold" pitchFamily="34" charset="-122"/>
                <a:cs typeface="Arimo Bold" pitchFamily="34" charset="0"/>
              </a:rPr>
              <a:t>https://github.com/harshal-caa/c2-build1-brief-c-group-2</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397" cy="73124"/>
          </a:xfrm>
          <a:prstGeom prst="roundRect">
            <a:avLst>
              <a:gd name="adj" fmla="val 9587"/>
            </a:avLst>
          </a:prstGeom>
          <a:solidFill>
            <a:srgbClr val="4E38AB"/>
          </a:solidFill>
          <a:ln/>
          <a:effectLst>
            <a:outerShdw sx="100000" sy="100000" kx="0" ky="0" algn="bl" rotWithShape="0" blurRad="39370" dist="22860" dir="5400000">
              <a:srgbClr val="000000">
                <a:alpha val="30000"/>
              </a:srgbClr>
            </a:outerShdw>
          </a:effectLst>
        </p:spPr>
      </p:sp>
      <p:sp>
        <p:nvSpPr>
          <p:cNvPr id="3" name="Text 1"/>
          <p:cNvSpPr/>
          <p:nvPr/>
        </p:nvSpPr>
        <p:spPr>
          <a:xfrm>
            <a:off x="548567" y="274241"/>
            <a:ext cx="7813182" cy="190500"/>
          </a:xfrm>
          <a:prstGeom prst="rect">
            <a:avLst/>
          </a:prstGeom>
          <a:noFill/>
          <a:ln/>
        </p:spPr>
        <p:txBody>
          <a:bodyPr wrap="none" lIns="0" tIns="0" rIns="0" bIns="0" rtlCol="0" anchor="t"/>
          <a:lstStyle/>
          <a:p>
            <a:pPr algn="l" indent="0" marL="0">
              <a:lnSpc>
                <a:spcPct val="125000"/>
              </a:lnSpc>
              <a:buNone/>
            </a:pPr>
            <a:r>
              <a:rPr lang="en-US" sz="1000" b="1" dirty="0">
                <a:solidFill>
                  <a:srgbClr val="4E38AB"/>
                </a:solidFill>
                <a:latin typeface="Arimo Bold" pitchFamily="34" charset="0"/>
                <a:ea typeface="Arimo Bold" pitchFamily="34" charset="-122"/>
                <a:cs typeface="Arimo Bold" pitchFamily="34" charset="0"/>
              </a:rPr>
              <a:t>APPENDIX A</a:t>
            </a:r>
            <a:endParaRPr lang="en-US" sz="1000" dirty="0"/>
          </a:p>
        </p:txBody>
      </p:sp>
      <p:sp>
        <p:nvSpPr>
          <p:cNvPr id="4" name="Text 2"/>
          <p:cNvSpPr/>
          <p:nvPr/>
        </p:nvSpPr>
        <p:spPr>
          <a:xfrm>
            <a:off x="9814176" y="274241"/>
            <a:ext cx="1924002" cy="190500"/>
          </a:xfrm>
          <a:prstGeom prst="rect">
            <a:avLst/>
          </a:prstGeom>
          <a:noFill/>
          <a:ln/>
        </p:spPr>
        <p:txBody>
          <a:bodyPr wrap="none" lIns="0" tIns="0" rIns="0" bIns="0" rtlCol="0" anchor="t"/>
          <a:lstStyle/>
          <a:p>
            <a:pPr algn="r" indent="0" marL="0">
              <a:lnSpc>
                <a:spcPct val="125000"/>
              </a:lnSpc>
              <a:buNone/>
            </a:pPr>
            <a:r>
              <a:rPr lang="en-US" sz="1000" dirty="0">
                <a:solidFill>
                  <a:srgbClr val="6B6690"/>
                </a:solidFill>
                <a:latin typeface="Arimo" pitchFamily="34" charset="0"/>
                <a:ea typeface="Arimo" pitchFamily="34" charset="-122"/>
                <a:cs typeface="Arimo" pitchFamily="34" charset="0"/>
              </a:rPr>
              <a:t>7 / 8</a:t>
            </a:r>
            <a:endParaRPr lang="en-US" sz="1000" dirty="0"/>
          </a:p>
        </p:txBody>
      </p:sp>
      <p:pic>
        <p:nvPicPr>
          <p:cNvPr id="5" name="Image 0" descr="preencoded.png">    </p:cNvPr>
          <p:cNvPicPr>
            <a:picLocks noChangeAspect="1"/>
          </p:cNvPicPr>
          <p:nvPr/>
        </p:nvPicPr>
        <p:blipFill>
          <a:blip r:embed="rId1"/>
          <a:stretch>
            <a:fillRect/>
          </a:stretch>
        </p:blipFill>
        <p:spPr>
          <a:xfrm>
            <a:off x="457189" y="6263580"/>
            <a:ext cx="411450" cy="411460"/>
          </a:xfrm>
          <a:prstGeom prst="rect">
            <a:avLst/>
          </a:prstGeom>
        </p:spPr>
      </p:pic>
      <p:sp>
        <p:nvSpPr>
          <p:cNvPr id="6" name="Text 3"/>
          <p:cNvSpPr/>
          <p:nvPr/>
        </p:nvSpPr>
        <p:spPr>
          <a:xfrm>
            <a:off x="1051395" y="6355060"/>
            <a:ext cx="9660291" cy="152400"/>
          </a:xfrm>
          <a:prstGeom prst="rect">
            <a:avLst/>
          </a:prstGeom>
          <a:noFill/>
          <a:ln/>
        </p:spPr>
        <p:txBody>
          <a:bodyPr wrap="none" lIns="0" tIns="0" rIns="0" bIns="0" rtlCol="0" anchor="t"/>
          <a:lstStyle/>
          <a:p>
            <a:pPr algn="l" indent="0" marL="0">
              <a:lnSpc>
                <a:spcPct val="125000"/>
              </a:lnSpc>
              <a:buNone/>
            </a:pPr>
            <a:r>
              <a:rPr lang="en-US" sz="800" dirty="0">
                <a:solidFill>
                  <a:srgbClr val="6B6690"/>
                </a:solidFill>
                <a:latin typeface="Arimo" pitchFamily="34" charset="0"/>
                <a:ea typeface="Arimo" pitchFamily="34" charset="-122"/>
                <a:cs typeface="Arimo" pitchFamily="34" charset="0"/>
              </a:rPr>
              <a:t>Indian Institute of Technology Gandhinagar · PG Diploma in AI-ML and Agentic AI Engineering · Cohort 2 · Build 1</a:t>
            </a:r>
            <a:endParaRPr lang="en-US" sz="800" dirty="0"/>
          </a:p>
        </p:txBody>
      </p:sp>
      <p:sp>
        <p:nvSpPr>
          <p:cNvPr id="7" name="Text 4"/>
          <p:cNvSpPr/>
          <p:nvPr/>
        </p:nvSpPr>
        <p:spPr>
          <a:xfrm>
            <a:off x="548567" y="618728"/>
            <a:ext cx="11155381" cy="365720"/>
          </a:xfrm>
          <a:prstGeom prst="rect">
            <a:avLst/>
          </a:prstGeom>
          <a:noFill/>
          <a:ln/>
        </p:spPr>
        <p:txBody>
          <a:bodyPr wrap="none" lIns="0" tIns="0" rIns="0" bIns="0" rtlCol="0" anchor="t"/>
          <a:lstStyle/>
          <a:p>
            <a:pPr algn="l" indent="0" marL="0">
              <a:lnSpc>
                <a:spcPct val="100000"/>
              </a:lnSpc>
              <a:buNone/>
            </a:pPr>
            <a:r>
              <a:rPr lang="en-US" sz="2400" b="1" dirty="0">
                <a:solidFill>
                  <a:srgbClr val="0F294A"/>
                </a:solidFill>
                <a:latin typeface="Gelasio Bold" pitchFamily="34" charset="0"/>
                <a:ea typeface="Gelasio Bold" pitchFamily="34" charset="-122"/>
                <a:cs typeface="Gelasio Bold" pitchFamily="34" charset="0"/>
              </a:rPr>
              <a:t>Appendix A · The decisions that moved the headline</a:t>
            </a:r>
            <a:endParaRPr lang="en-US" sz="2400" dirty="0"/>
          </a:p>
        </p:txBody>
      </p:sp>
      <p:sp>
        <p:nvSpPr>
          <p:cNvPr id="8" name="Text 5"/>
          <p:cNvSpPr/>
          <p:nvPr/>
        </p:nvSpPr>
        <p:spPr>
          <a:xfrm>
            <a:off x="548567" y="1685230"/>
            <a:ext cx="11643128" cy="182860"/>
          </a:xfrm>
          <a:prstGeom prst="rect">
            <a:avLst/>
          </a:prstGeom>
          <a:noFill/>
          <a:ln/>
        </p:spPr>
        <p:txBody>
          <a:bodyPr wrap="none" lIns="0" tIns="0" rIns="0" bIns="0" rtlCol="0" anchor="t"/>
          <a:lstStyle/>
          <a:p>
            <a:pPr algn="l" indent="0" marL="0">
              <a:lnSpc>
                <a:spcPct val="100000"/>
              </a:lnSpc>
              <a:buNone/>
            </a:pPr>
            <a:r>
              <a:rPr lang="en-US" sz="1200" b="1" dirty="0">
                <a:solidFill>
                  <a:srgbClr val="0F294A"/>
                </a:solidFill>
                <a:latin typeface="Arimo Bold" pitchFamily="34" charset="0"/>
                <a:ea typeface="Arimo Bold" pitchFamily="34" charset="-122"/>
                <a:cs typeface="Arimo Bold" pitchFamily="34" charset="0"/>
              </a:rPr>
              <a:t>Rule 1 · Timestamp Parsing Harmonization:</a:t>
            </a:r>
            <a:endParaRPr lang="en-US" sz="1200" dirty="0"/>
          </a:p>
        </p:txBody>
      </p:sp>
      <p:sp>
        <p:nvSpPr>
          <p:cNvPr id="9" name="Text 6"/>
          <p:cNvSpPr/>
          <p:nvPr/>
        </p:nvSpPr>
        <p:spPr>
          <a:xfrm>
            <a:off x="548567" y="1868091"/>
            <a:ext cx="11643128" cy="185241"/>
          </a:xfrm>
          <a:prstGeom prst="rect">
            <a:avLst/>
          </a:prstGeom>
          <a:noFill/>
          <a:ln/>
        </p:spPr>
        <p:txBody>
          <a:bodyPr wrap="none" lIns="0" tIns="25336" rIns="0" bIns="0" rtlCol="0" anchor="t"/>
          <a:lstStyle/>
          <a:p>
            <a:pPr algn="l" indent="0" marL="0">
              <a:lnSpc>
                <a:spcPct val="100000"/>
              </a:lnSpc>
              <a:buNone/>
            </a:pPr>
            <a:r>
              <a:rPr lang="en-US" sz="1050" dirty="0">
                <a:solidFill>
                  <a:srgbClr val="1E293B"/>
                </a:solidFill>
                <a:latin typeface="Arimo" pitchFamily="34" charset="0"/>
                <a:ea typeface="Arimo" pitchFamily="34" charset="-122"/>
                <a:cs typeface="Arimo" pitchFamily="34" charset="0"/>
              </a:rPr>
              <a:t>Correcting mixed ISO (+05:30) vs DD/MM/YYYY formats prevented 78,000 legitimate H1 bookings from misclassifying into Jul–Dec.</a:t>
            </a:r>
            <a:endParaRPr lang="en-US" sz="1050" dirty="0"/>
          </a:p>
        </p:txBody>
      </p:sp>
      <p:sp>
        <p:nvSpPr>
          <p:cNvPr id="10" name="Text 7"/>
          <p:cNvSpPr/>
          <p:nvPr/>
        </p:nvSpPr>
        <p:spPr>
          <a:xfrm>
            <a:off x="548567" y="2053332"/>
            <a:ext cx="11098233" cy="284956"/>
          </a:xfrm>
          <a:prstGeom prst="rect">
            <a:avLst/>
          </a:prstGeom>
          <a:noFill/>
          <a:ln/>
        </p:spPr>
        <p:txBody>
          <a:bodyPr wrap="square" lIns="0" tIns="102105" rIns="0" bIns="0" rtlCol="0" anchor="t">
            <a:normAutofit/>
          </a:bodyPr>
          <a:lstStyle/>
          <a:p>
            <a:pPr algn="l" indent="0" marL="0">
              <a:lnSpc>
                <a:spcPct val="100000"/>
              </a:lnSpc>
              <a:buNone/>
            </a:pPr>
            <a:r>
              <a:rPr lang="en-US" sz="1200" b="1" dirty="0">
                <a:solidFill>
                  <a:srgbClr val="0F294A"/>
                </a:solidFill>
                <a:latin typeface="Arimo Bold" pitchFamily="34" charset="0"/>
                <a:ea typeface="Arimo Bold" pitchFamily="34" charset="-122"/>
                <a:cs typeface="Arimo Bold" pitchFamily="34" charset="0"/>
              </a:rPr>
              <a:t>Rule 2 · Nova Duplicate Rescheduled Bookings Filter:</a:t>
            </a:r>
            <a:endParaRPr lang="en-US" sz="1200" dirty="0"/>
          </a:p>
        </p:txBody>
      </p:sp>
      <p:sp>
        <p:nvSpPr>
          <p:cNvPr id="11" name="Text 8"/>
          <p:cNvSpPr/>
          <p:nvPr/>
        </p:nvSpPr>
        <p:spPr>
          <a:xfrm>
            <a:off x="548567" y="2338288"/>
            <a:ext cx="11643128" cy="185241"/>
          </a:xfrm>
          <a:prstGeom prst="rect">
            <a:avLst/>
          </a:prstGeom>
          <a:noFill/>
          <a:ln/>
        </p:spPr>
        <p:txBody>
          <a:bodyPr wrap="none" lIns="0" tIns="25336" rIns="0" bIns="0" rtlCol="0" anchor="t"/>
          <a:lstStyle/>
          <a:p>
            <a:pPr algn="l" indent="0" marL="0">
              <a:lnSpc>
                <a:spcPct val="100000"/>
              </a:lnSpc>
              <a:buNone/>
            </a:pPr>
            <a:r>
              <a:rPr lang="en-US" sz="1050" dirty="0">
                <a:solidFill>
                  <a:srgbClr val="1E293B"/>
                </a:solidFill>
                <a:latin typeface="Arimo" pitchFamily="34" charset="0"/>
                <a:ea typeface="Arimo" pitchFamily="34" charset="-122"/>
                <a:cs typeface="Arimo" pitchFamily="34" charset="0"/>
              </a:rPr>
              <a:t>Filtered 1,500 rescheduled duplicate rows in Nova (Jaipur &amp; Chennai) which never receive lab results, restoring accurate test fulfilment rates to 83.8%.</a:t>
            </a:r>
            <a:endParaRPr lang="en-US" sz="1050" dirty="0"/>
          </a:p>
        </p:txBody>
      </p:sp>
      <p:sp>
        <p:nvSpPr>
          <p:cNvPr id="12" name="Text 9"/>
          <p:cNvSpPr/>
          <p:nvPr/>
        </p:nvSpPr>
        <p:spPr>
          <a:xfrm>
            <a:off x="548567" y="2523530"/>
            <a:ext cx="11098233" cy="284956"/>
          </a:xfrm>
          <a:prstGeom prst="rect">
            <a:avLst/>
          </a:prstGeom>
          <a:noFill/>
          <a:ln/>
        </p:spPr>
        <p:txBody>
          <a:bodyPr wrap="square" lIns="0" tIns="102105" rIns="0" bIns="0" rtlCol="0" anchor="t">
            <a:normAutofit/>
          </a:bodyPr>
          <a:lstStyle/>
          <a:p>
            <a:pPr algn="l" indent="0" marL="0">
              <a:lnSpc>
                <a:spcPct val="100000"/>
              </a:lnSpc>
              <a:buNone/>
            </a:pPr>
            <a:r>
              <a:rPr lang="en-US" sz="1200" b="1" dirty="0">
                <a:solidFill>
                  <a:srgbClr val="0F294A"/>
                </a:solidFill>
                <a:latin typeface="Arimo Bold" pitchFamily="34" charset="0"/>
                <a:ea typeface="Arimo Bold" pitchFamily="34" charset="-122"/>
                <a:cs typeface="Arimo Bold" pitchFamily="34" charset="0"/>
              </a:rPr>
              <a:t>Rule 3 · 1-to-1 Null Test Code Recovery:</a:t>
            </a:r>
            <a:endParaRPr lang="en-US" sz="1200" dirty="0"/>
          </a:p>
        </p:txBody>
      </p:sp>
      <p:sp>
        <p:nvSpPr>
          <p:cNvPr id="13" name="Text 10"/>
          <p:cNvSpPr/>
          <p:nvPr/>
        </p:nvSpPr>
        <p:spPr>
          <a:xfrm>
            <a:off x="548567" y="2808486"/>
            <a:ext cx="11643128" cy="185241"/>
          </a:xfrm>
          <a:prstGeom prst="rect">
            <a:avLst/>
          </a:prstGeom>
          <a:noFill/>
          <a:ln/>
        </p:spPr>
        <p:txBody>
          <a:bodyPr wrap="none" lIns="0" tIns="25336" rIns="0" bIns="0" rtlCol="0" anchor="t"/>
          <a:lstStyle/>
          <a:p>
            <a:pPr algn="l" indent="0" marL="0">
              <a:lnSpc>
                <a:spcPct val="100000"/>
              </a:lnSpc>
              <a:buNone/>
            </a:pPr>
            <a:r>
              <a:rPr lang="en-US" sz="1050" dirty="0">
                <a:solidFill>
                  <a:srgbClr val="1E293B"/>
                </a:solidFill>
                <a:latin typeface="Arimo" pitchFamily="34" charset="0"/>
                <a:ea typeface="Arimo" pitchFamily="34" charset="-122"/>
                <a:cs typeface="Arimo" pitchFamily="34" charset="0"/>
              </a:rPr>
              <a:t>Recovered 2,108 null test codes (1,019 in 2025, 1,089 in 2026) by matching unique booked tests on the same booking ID; 94 unrecoverable rows labeled UNKNOWN.</a:t>
            </a:r>
            <a:endParaRPr lang="en-US" sz="1050" dirty="0"/>
          </a:p>
        </p:txBody>
      </p:sp>
      <p:sp>
        <p:nvSpPr>
          <p:cNvPr id="14" name="Text 11"/>
          <p:cNvSpPr/>
          <p:nvPr/>
        </p:nvSpPr>
        <p:spPr>
          <a:xfrm>
            <a:off x="548567" y="2993727"/>
            <a:ext cx="11098233" cy="284956"/>
          </a:xfrm>
          <a:prstGeom prst="rect">
            <a:avLst/>
          </a:prstGeom>
          <a:noFill/>
          <a:ln/>
        </p:spPr>
        <p:txBody>
          <a:bodyPr wrap="square" lIns="0" tIns="102105" rIns="0" bIns="0" rtlCol="0" anchor="t">
            <a:normAutofit/>
          </a:bodyPr>
          <a:lstStyle/>
          <a:p>
            <a:pPr algn="l" indent="0" marL="0">
              <a:lnSpc>
                <a:spcPct val="100000"/>
              </a:lnSpc>
              <a:buNone/>
            </a:pPr>
            <a:r>
              <a:rPr lang="en-US" sz="1200" b="1" dirty="0">
                <a:solidFill>
                  <a:srgbClr val="0F294A"/>
                </a:solidFill>
                <a:latin typeface="Arimo Bold" pitchFamily="34" charset="0"/>
                <a:ea typeface="Arimo Bold" pitchFamily="34" charset="-122"/>
                <a:cs typeface="Arimo Bold" pitchFamily="34" charset="0"/>
              </a:rPr>
              <a:t>Rule 4 · Geographic Standardization:</a:t>
            </a:r>
            <a:endParaRPr lang="en-US" sz="1200" dirty="0"/>
          </a:p>
        </p:txBody>
      </p:sp>
      <p:sp>
        <p:nvSpPr>
          <p:cNvPr id="15" name="Text 12"/>
          <p:cNvSpPr/>
          <p:nvPr/>
        </p:nvSpPr>
        <p:spPr>
          <a:xfrm>
            <a:off x="548567" y="3278684"/>
            <a:ext cx="11643128" cy="185241"/>
          </a:xfrm>
          <a:prstGeom prst="rect">
            <a:avLst/>
          </a:prstGeom>
          <a:noFill/>
          <a:ln/>
        </p:spPr>
        <p:txBody>
          <a:bodyPr wrap="none" lIns="0" tIns="25336" rIns="0" bIns="0" rtlCol="0" anchor="t"/>
          <a:lstStyle/>
          <a:p>
            <a:pPr algn="l" indent="0" marL="0">
              <a:lnSpc>
                <a:spcPct val="100000"/>
              </a:lnSpc>
              <a:buNone/>
            </a:pPr>
            <a:r>
              <a:rPr lang="en-US" sz="1050" dirty="0">
                <a:solidFill>
                  <a:srgbClr val="1E293B"/>
                </a:solidFill>
                <a:latin typeface="Arimo" pitchFamily="34" charset="0"/>
                <a:ea typeface="Arimo" pitchFamily="34" charset="-122"/>
                <a:cs typeface="Arimo" pitchFamily="34" charset="0"/>
              </a:rPr>
              <a:t>Normalized "Bangalore" to "Bengaluru" and attributed orphan result rows using booking ID city prefixes (e.g. BK-AHM, BK-CHE).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397" cy="73124"/>
          </a:xfrm>
          <a:prstGeom prst="roundRect">
            <a:avLst>
              <a:gd name="adj" fmla="val 9587"/>
            </a:avLst>
          </a:prstGeom>
          <a:solidFill>
            <a:srgbClr val="4E38AB"/>
          </a:solidFill>
          <a:ln/>
          <a:effectLst>
            <a:outerShdw sx="100000" sy="100000" kx="0" ky="0" algn="bl" rotWithShape="0" blurRad="39370" dist="22860" dir="5400000">
              <a:srgbClr val="000000">
                <a:alpha val="30000"/>
              </a:srgbClr>
            </a:outerShdw>
          </a:effectLst>
        </p:spPr>
      </p:sp>
      <p:sp>
        <p:nvSpPr>
          <p:cNvPr id="3" name="Text 1"/>
          <p:cNvSpPr/>
          <p:nvPr/>
        </p:nvSpPr>
        <p:spPr>
          <a:xfrm>
            <a:off x="548567" y="274241"/>
            <a:ext cx="7813182" cy="190500"/>
          </a:xfrm>
          <a:prstGeom prst="rect">
            <a:avLst/>
          </a:prstGeom>
          <a:noFill/>
          <a:ln/>
        </p:spPr>
        <p:txBody>
          <a:bodyPr wrap="none" lIns="0" tIns="0" rIns="0" bIns="0" rtlCol="0" anchor="t"/>
          <a:lstStyle/>
          <a:p>
            <a:pPr algn="l" indent="0" marL="0">
              <a:lnSpc>
                <a:spcPct val="125000"/>
              </a:lnSpc>
              <a:buNone/>
            </a:pPr>
            <a:r>
              <a:rPr lang="en-US" sz="1000" b="1" dirty="0">
                <a:solidFill>
                  <a:srgbClr val="4E38AB"/>
                </a:solidFill>
                <a:latin typeface="Arimo Bold" pitchFamily="34" charset="0"/>
                <a:ea typeface="Arimo Bold" pitchFamily="34" charset="-122"/>
                <a:cs typeface="Arimo Bold" pitchFamily="34" charset="0"/>
              </a:rPr>
              <a:t>APPENDIX B</a:t>
            </a:r>
            <a:endParaRPr lang="en-US" sz="1000" dirty="0"/>
          </a:p>
        </p:txBody>
      </p:sp>
      <p:sp>
        <p:nvSpPr>
          <p:cNvPr id="4" name="Text 2"/>
          <p:cNvSpPr/>
          <p:nvPr/>
        </p:nvSpPr>
        <p:spPr>
          <a:xfrm>
            <a:off x="9814176" y="274241"/>
            <a:ext cx="1924002" cy="190500"/>
          </a:xfrm>
          <a:prstGeom prst="rect">
            <a:avLst/>
          </a:prstGeom>
          <a:noFill/>
          <a:ln/>
        </p:spPr>
        <p:txBody>
          <a:bodyPr wrap="none" lIns="0" tIns="0" rIns="0" bIns="0" rtlCol="0" anchor="t"/>
          <a:lstStyle/>
          <a:p>
            <a:pPr algn="r" indent="0" marL="0">
              <a:lnSpc>
                <a:spcPct val="125000"/>
              </a:lnSpc>
              <a:buNone/>
            </a:pPr>
            <a:r>
              <a:rPr lang="en-US" sz="1000" dirty="0">
                <a:solidFill>
                  <a:srgbClr val="6B6690"/>
                </a:solidFill>
                <a:latin typeface="Arimo" pitchFamily="34" charset="0"/>
                <a:ea typeface="Arimo" pitchFamily="34" charset="-122"/>
                <a:cs typeface="Arimo" pitchFamily="34" charset="0"/>
              </a:rPr>
              <a:t>8 / 8</a:t>
            </a:r>
            <a:endParaRPr lang="en-US" sz="1000" dirty="0"/>
          </a:p>
        </p:txBody>
      </p:sp>
      <p:pic>
        <p:nvPicPr>
          <p:cNvPr id="5" name="Image 0" descr="preencoded.png">    </p:cNvPr>
          <p:cNvPicPr>
            <a:picLocks noChangeAspect="1"/>
          </p:cNvPicPr>
          <p:nvPr/>
        </p:nvPicPr>
        <p:blipFill>
          <a:blip r:embed="rId1"/>
          <a:stretch>
            <a:fillRect/>
          </a:stretch>
        </p:blipFill>
        <p:spPr>
          <a:xfrm>
            <a:off x="457189" y="6263580"/>
            <a:ext cx="411450" cy="411460"/>
          </a:xfrm>
          <a:prstGeom prst="rect">
            <a:avLst/>
          </a:prstGeom>
        </p:spPr>
      </p:pic>
      <p:sp>
        <p:nvSpPr>
          <p:cNvPr id="6" name="Text 3"/>
          <p:cNvSpPr/>
          <p:nvPr/>
        </p:nvSpPr>
        <p:spPr>
          <a:xfrm>
            <a:off x="1051395" y="6355060"/>
            <a:ext cx="9660291" cy="152400"/>
          </a:xfrm>
          <a:prstGeom prst="rect">
            <a:avLst/>
          </a:prstGeom>
          <a:noFill/>
          <a:ln/>
        </p:spPr>
        <p:txBody>
          <a:bodyPr wrap="none" lIns="0" tIns="0" rIns="0" bIns="0" rtlCol="0" anchor="t"/>
          <a:lstStyle/>
          <a:p>
            <a:pPr algn="l" indent="0" marL="0">
              <a:lnSpc>
                <a:spcPct val="125000"/>
              </a:lnSpc>
              <a:buNone/>
            </a:pPr>
            <a:r>
              <a:rPr lang="en-US" sz="800" dirty="0">
                <a:solidFill>
                  <a:srgbClr val="6B6690"/>
                </a:solidFill>
                <a:latin typeface="Arimo" pitchFamily="34" charset="0"/>
                <a:ea typeface="Arimo" pitchFamily="34" charset="-122"/>
                <a:cs typeface="Arimo" pitchFamily="34" charset="0"/>
              </a:rPr>
              <a:t>Indian Institute of Technology Gandhinagar · PG Diploma in AI-ML and Agentic AI Engineering · Cohort 2 · Build 1</a:t>
            </a:r>
            <a:endParaRPr lang="en-US" sz="800" dirty="0"/>
          </a:p>
        </p:txBody>
      </p:sp>
      <p:sp>
        <p:nvSpPr>
          <p:cNvPr id="7" name="Text 4"/>
          <p:cNvSpPr/>
          <p:nvPr/>
        </p:nvSpPr>
        <p:spPr>
          <a:xfrm>
            <a:off x="548567" y="618728"/>
            <a:ext cx="11155381" cy="365720"/>
          </a:xfrm>
          <a:prstGeom prst="rect">
            <a:avLst/>
          </a:prstGeom>
          <a:noFill/>
          <a:ln/>
        </p:spPr>
        <p:txBody>
          <a:bodyPr wrap="none" lIns="0" tIns="0" rIns="0" bIns="0" rtlCol="0" anchor="t"/>
          <a:lstStyle/>
          <a:p>
            <a:pPr algn="l" indent="0" marL="0">
              <a:lnSpc>
                <a:spcPct val="100000"/>
              </a:lnSpc>
              <a:buNone/>
            </a:pPr>
            <a:r>
              <a:rPr lang="en-US" sz="2400" b="1" dirty="0">
                <a:solidFill>
                  <a:srgbClr val="0F294A"/>
                </a:solidFill>
                <a:latin typeface="Gelasio Bold" pitchFamily="34" charset="0"/>
                <a:ea typeface="Gelasio Bold" pitchFamily="34" charset="-122"/>
                <a:cs typeface="Gelasio Bold" pitchFamily="34" charset="0"/>
              </a:rPr>
              <a:t>Appendix B · The cold run verification</a:t>
            </a:r>
            <a:endParaRPr lang="en-US" sz="2400" dirty="0"/>
          </a:p>
        </p:txBody>
      </p:sp>
      <p:sp>
        <p:nvSpPr>
          <p:cNvPr id="8" name="Text 5"/>
          <p:cNvSpPr/>
          <p:nvPr/>
        </p:nvSpPr>
        <p:spPr>
          <a:xfrm>
            <a:off x="548567" y="1685230"/>
            <a:ext cx="11643128" cy="182860"/>
          </a:xfrm>
          <a:prstGeom prst="rect">
            <a:avLst/>
          </a:prstGeom>
          <a:noFill/>
          <a:ln/>
        </p:spPr>
        <p:txBody>
          <a:bodyPr wrap="none" lIns="0" tIns="0" rIns="0" bIns="0" rtlCol="0" anchor="t"/>
          <a:lstStyle/>
          <a:p>
            <a:pPr algn="l" indent="0" marL="0">
              <a:lnSpc>
                <a:spcPct val="100000"/>
              </a:lnSpc>
              <a:buNone/>
            </a:pPr>
            <a:r>
              <a:rPr lang="en-US" sz="1200" b="1" dirty="0">
                <a:solidFill>
                  <a:srgbClr val="0F294A"/>
                </a:solidFill>
                <a:latin typeface="Arimo Bold" pitchFamily="34" charset="0"/>
                <a:ea typeface="Arimo Bold" pitchFamily="34" charset="-122"/>
                <a:cs typeface="Arimo Bold" pitchFamily="34" charset="0"/>
              </a:rPr>
              <a:t>Test Environment: Fresh GitHub Codespace / local Python 3.12+ execution</a:t>
            </a:r>
            <a:endParaRPr lang="en-US" sz="1200" dirty="0"/>
          </a:p>
        </p:txBody>
      </p:sp>
      <p:sp>
        <p:nvSpPr>
          <p:cNvPr id="9" name="Text 6"/>
          <p:cNvSpPr/>
          <p:nvPr/>
        </p:nvSpPr>
        <p:spPr>
          <a:xfrm>
            <a:off x="548567" y="1868091"/>
            <a:ext cx="11643128" cy="217785"/>
          </a:xfrm>
          <a:prstGeom prst="rect">
            <a:avLst/>
          </a:prstGeom>
          <a:noFill/>
          <a:ln/>
        </p:spPr>
        <p:txBody>
          <a:bodyPr wrap="none" lIns="0" tIns="50291" rIns="0" bIns="0" rtlCol="0" anchor="t"/>
          <a:lstStyle/>
          <a:p>
            <a:pPr algn="l" indent="0" marL="0">
              <a:lnSpc>
                <a:spcPct val="100000"/>
              </a:lnSpc>
              <a:buNone/>
            </a:pPr>
            <a:r>
              <a:rPr lang="en-US" sz="1100" dirty="0">
                <a:solidFill>
                  <a:srgbClr val="1E293B"/>
                </a:solidFill>
                <a:latin typeface="Arimo" pitchFamily="34" charset="0"/>
                <a:ea typeface="Arimo" pitchFamily="34" charset="-122"/>
                <a:cs typeface="Arimo" pitchFamily="34" charset="0"/>
              </a:rPr>
              <a:t>Runtime: 2 min 45 sec for full pipeline ingestion, cleaning, and reconciliation</a:t>
            </a:r>
            <a:endParaRPr lang="en-US" sz="1100" dirty="0"/>
          </a:p>
        </p:txBody>
      </p:sp>
      <p:sp>
        <p:nvSpPr>
          <p:cNvPr id="10" name="Text 7"/>
          <p:cNvSpPr/>
          <p:nvPr/>
        </p:nvSpPr>
        <p:spPr>
          <a:xfrm>
            <a:off x="548567" y="2085876"/>
            <a:ext cx="11098233" cy="733127"/>
          </a:xfrm>
          <a:prstGeom prst="rect">
            <a:avLst/>
          </a:prstGeom>
          <a:noFill/>
          <a:ln/>
        </p:spPr>
        <p:txBody>
          <a:bodyPr wrap="square" lIns="0" tIns="76833" rIns="0" bIns="0" rtlCol="0" anchor="t"/>
          <a:lstStyle/>
          <a:p>
            <a:pPr algn="l" indent="0" marL="0">
              <a:lnSpc>
                <a:spcPct val="100000"/>
              </a:lnSpc>
              <a:buNone/>
            </a:pPr>
            <a:r>
              <a:rPr lang="en-US" sz="1100" b="1" dirty="0">
                <a:solidFill>
                  <a:srgbClr val="15803D"/>
                </a:solidFill>
                <a:latin typeface="Arimo Bold" pitchFamily="34" charset="0"/>
                <a:ea typeface="Arimo Bold" pitchFamily="34" charset="-122"/>
                <a:cs typeface="Arimo Bold" pitchFamily="34" charset="0"/>
              </a:rPr>
              <a:t>Headline Number: +5.75% (H1 2025: 357,769 -&gt; H1 2026: 378,358 rows), exact match</a:t>
            </a:r>
            <a:endParaRPr lang="en-US" sz="1100" dirty="0"/>
          </a:p>
          <a:p>
            <a:pPr algn="l" indent="0" marL="0">
              <a:lnSpc>
                <a:spcPct val="100000"/>
              </a:lnSpc>
              <a:buNone/>
            </a:pPr>
            <a:r>
              <a:rPr lang="en-US" sz="1100" dirty="0">
                <a:solidFill>
                  <a:srgbClr val="1E293B"/>
                </a:solidFill>
                <a:latin typeface="Arimo" pitchFamily="34" charset="0"/>
                <a:ea typeface="Arimo" pitchFamily="34" charset="-122"/>
                <a:cs typeface="Arimo" pitchFamily="34" charset="0"/>
              </a:rPr>
              <a:t>Mathematical Reconciliation: Multiplicative tree error = 0.000%; channel contribution sum = 5.75 pp</a:t>
            </a:r>
            <a:endParaRPr lang="en-US" sz="1100" dirty="0"/>
          </a:p>
          <a:p>
            <a:pPr algn="l" indent="0" marL="0">
              <a:lnSpc>
                <a:spcPct val="100000"/>
              </a:lnSpc>
              <a:buNone/>
            </a:pPr>
            <a:r>
              <a:rPr lang="en-US" sz="1100" dirty="0">
                <a:solidFill>
                  <a:srgbClr val="334155"/>
                </a:solidFill>
                <a:latin typeface="Arimo" pitchFamily="34" charset="0"/>
                <a:ea typeface="Arimo" pitchFamily="34" charset="-122"/>
                <a:cs typeface="Arimo" pitchFamily="34" charset="0"/>
              </a:rPr>
              <a:t>Git Tracking: Branch harshal_branch | Commit verified &amp; reproducible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2026-10-24T11:48:52Z</dcterms:created>
  <dcterms:modified xsi:type="dcterms:W3CDTF">2026-10-24T11:48:52Z</dcterms:modified>
</cp:coreProperties>
</file>