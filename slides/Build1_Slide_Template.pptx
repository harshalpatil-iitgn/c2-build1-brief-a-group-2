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question and the claim, nothing else. Twenty seconds. The cover is read, not presented.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Her words first, then the translation in one line, then the decision. If the panel does not know what decision hangs on your answer by the end of this slide, nothing after it matters.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two numbers on the picture, the two that carry the claim. Do not read the diagram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8000"/>
            </a:avLst>
          </a:prstGeom>
          <a:solidFill>
            <a:srgbClr val="1A0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itgn_seal.png"/>
          <p:cNvPicPr>
            <a:picLocks noChangeAspect="1"/>
          </p:cNvPicPr>
          <p:nvPr/>
        </p:nvPicPr>
        <p:blipFill>
          <a:blip r:embed="rId2"/>
          <a:stretch>
            <a:fillRect/>
          </a:stretch>
        </p:blipFill>
        <p:spPr>
          <a:xfrm>
            <a:off x="548640" y="457200"/>
            <a:ext cx="914400" cy="914400"/>
          </a:xfrm>
          <a:prstGeom prst="rect">
            <a:avLst/>
          </a:prstGeom>
        </p:spPr>
      </p:pic>
      <p:sp>
        <p:nvSpPr>
          <p:cNvPr id="4" name="TextBox 3"/>
          <p:cNvSpPr txBox="1"/>
          <p:nvPr/>
        </p:nvSpPr>
        <p:spPr>
          <a:xfrm>
            <a:off x="1645920" y="502920"/>
            <a:ext cx="8229600" cy="457200"/>
          </a:xfrm>
          <a:prstGeom prst="rect">
            <a:avLst/>
          </a:prstGeom>
          <a:noFill/>
        </p:spPr>
        <p:txBody>
          <a:bodyPr wrap="square">
            <a:spAutoFit/>
          </a:bodyPr>
          <a:lstStyle/>
          <a:p>
            <a:pPr algn="l"/>
            <a:r>
              <a:rPr sz="1100" b="1">
                <a:solidFill>
                  <a:srgbClr val="FFFFFF"/>
                </a:solidFill>
                <a:latin typeface="Arial"/>
              </a:rPr>
              <a:t>INDIAN INSTITUTE OF TECHNOLOGY GANDHINAGAR</a:t>
            </a:r>
          </a:p>
        </p:txBody>
      </p:sp>
      <p:sp>
        <p:nvSpPr>
          <p:cNvPr id="5" name="TextBox 4"/>
          <p:cNvSpPr txBox="1"/>
          <p:nvPr/>
        </p:nvSpPr>
        <p:spPr>
          <a:xfrm>
            <a:off x="1645920" y="868680"/>
            <a:ext cx="8229600" cy="457200"/>
          </a:xfrm>
          <a:prstGeom prst="rect">
            <a:avLst/>
          </a:prstGeom>
          <a:noFill/>
        </p:spPr>
        <p:txBody>
          <a:bodyPr wrap="square">
            <a:spAutoFit/>
          </a:bodyPr>
          <a:lstStyle/>
          <a:p>
            <a:pPr algn="l"/>
            <a:r>
              <a:rPr sz="1100" b="0">
                <a:solidFill>
                  <a:srgbClr val="D9A7FF"/>
                </a:solidFill>
                <a:latin typeface="Arial"/>
              </a:rPr>
              <a:t>PG Diploma in AI-ML and Agentic AI Engineering · Cohort 2 · Build 1</a:t>
            </a:r>
          </a:p>
        </p:txBody>
      </p:sp>
      <p:sp>
        <p:nvSpPr>
          <p:cNvPr id="6" name="TextBox 5"/>
          <p:cNvSpPr txBox="1"/>
          <p:nvPr/>
        </p:nvSpPr>
        <p:spPr>
          <a:xfrm>
            <a:off x="548640" y="2194560"/>
            <a:ext cx="10972800" cy="457200"/>
          </a:xfrm>
          <a:prstGeom prst="rect">
            <a:avLst/>
          </a:prstGeom>
          <a:noFill/>
        </p:spPr>
        <p:txBody>
          <a:bodyPr wrap="square">
            <a:spAutoFit/>
          </a:bodyPr>
          <a:lstStyle/>
          <a:p>
            <a:pPr algn="l">
              <a:spcAft>
                <a:spcPts val="600"/>
              </a:spcAft>
              <a:defRPr sz="1100" b="1" i="0">
                <a:solidFill>
                  <a:srgbClr val="0284C7"/>
                </a:solidFill>
                <a:latin typeface="Arial"/>
              </a:defRPr>
            </a:pPr>
            <a:r>
              <a:t>BRIEF A · GROWTH H1 2025 vs H1 2026 · GROUP 2</a:t>
            </a:r>
          </a:p>
        </p:txBody>
      </p:sp>
      <p:sp>
        <p:nvSpPr>
          <p:cNvPr id="7" name="TextBox 6"/>
          <p:cNvSpPr txBox="1"/>
          <p:nvPr/>
        </p:nvSpPr>
        <p:spPr>
          <a:xfrm>
            <a:off x="548640" y="2651760"/>
            <a:ext cx="10972800" cy="1463040"/>
          </a:xfrm>
          <a:prstGeom prst="rect">
            <a:avLst/>
          </a:prstGeom>
          <a:noFill/>
        </p:spPr>
        <p:txBody>
          <a:bodyPr wrap="square">
            <a:spAutoFit/>
          </a:bodyPr>
          <a:lstStyle/>
          <a:p>
            <a:pPr algn="l">
              <a:spcAft>
                <a:spcPts val="600"/>
              </a:spcAft>
              <a:defRPr sz="3400" b="1" i="0">
                <a:solidFill>
                  <a:srgbClr val="0F294A"/>
                </a:solidFill>
                <a:latin typeface="Georgia"/>
              </a:defRPr>
            </a:pPr>
            <a:r>
              <a:t>Where Did the Growth Come From — and Why Did Jaipur and Chennai Lag?</a:t>
            </a:r>
          </a:p>
        </p:txBody>
      </p:sp>
      <p:sp>
        <p:nvSpPr>
          <p:cNvPr id="8" name="TextBox 7"/>
          <p:cNvSpPr txBox="1"/>
          <p:nvPr/>
        </p:nvSpPr>
        <p:spPr>
          <a:xfrm>
            <a:off x="548640" y="4206240"/>
            <a:ext cx="10058400" cy="731520"/>
          </a:xfrm>
          <a:prstGeom prst="rect">
            <a:avLst/>
          </a:prstGeom>
          <a:noFill/>
        </p:spPr>
        <p:txBody>
          <a:bodyPr wrap="square">
            <a:spAutoFit/>
          </a:bodyPr>
          <a:lstStyle/>
          <a:p>
            <a:pPr algn="l">
              <a:spcAft>
                <a:spcPts val="600"/>
              </a:spcAft>
              <a:defRPr sz="1400" b="0" i="0">
                <a:solidFill>
                  <a:srgbClr val="334155"/>
                </a:solidFill>
                <a:latin typeface="Arial"/>
              </a:defRPr>
            </a:pPr>
            <a:r>
              <a:t>Test results grew 5.75% from H1 2025 to H1 2026 (357,769 to 378,358 rows), propelled by a 37.7% surge in home collection and 35.2% package test adoption, while clinic results declined 12.1% and patient acquisition lagged in Jaipur (-9.9%) and Chennai (+1.3%).</a:t>
            </a:r>
          </a:p>
        </p:txBody>
      </p:sp>
      <p:sp>
        <p:nvSpPr>
          <p:cNvPr id="9" name="TextBox 8"/>
          <p:cNvSpPr txBox="1"/>
          <p:nvPr/>
        </p:nvSpPr>
        <p:spPr>
          <a:xfrm>
            <a:off x="548640" y="5852160"/>
            <a:ext cx="10972800" cy="457200"/>
          </a:xfrm>
          <a:prstGeom prst="rect">
            <a:avLst/>
          </a:prstGeom>
          <a:noFill/>
        </p:spPr>
        <p:txBody>
          <a:bodyPr wrap="square">
            <a:spAutoFit/>
          </a:bodyPr>
          <a:lstStyle/>
          <a:p>
            <a:pPr algn="l">
              <a:spcAft>
                <a:spcPts val="600"/>
              </a:spcAft>
              <a:defRPr sz="1200" b="1" i="0">
                <a:solidFill>
                  <a:srgbClr val="0F294A"/>
                </a:solidFill>
                <a:latin typeface="Arial"/>
              </a:defRPr>
            </a:pPr>
            <a:r>
              <a:t>Harshal Patil · Kshitij · Gaurang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73152"/>
          </a:xfrm>
          <a:prstGeom prst="roundRect">
            <a:avLst>
              <a:gd name="adj" fmla="val 8000"/>
            </a:avLst>
          </a:prstGeom>
          <a:solidFill>
            <a:srgbClr val="4E38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7315200" cy="365760"/>
          </a:xfrm>
          <a:prstGeom prst="rect">
            <a:avLst/>
          </a:prstGeom>
          <a:noFill/>
        </p:spPr>
        <p:txBody>
          <a:bodyPr wrap="square">
            <a:spAutoFit/>
          </a:bodyPr>
          <a:lstStyle/>
          <a:p>
            <a:pPr algn="l"/>
            <a:r>
              <a:rPr sz="1000" b="1">
                <a:solidFill>
                  <a:srgbClr val="4E38AB"/>
                </a:solidFill>
                <a:latin typeface="Arial"/>
              </a:rPr>
              <a:t>1 · THE QUESTION</a:t>
            </a:r>
          </a:p>
        </p:txBody>
      </p:sp>
      <p:sp>
        <p:nvSpPr>
          <p:cNvPr id="4" name="TextBox 3"/>
          <p:cNvSpPr txBox="1"/>
          <p:nvPr/>
        </p:nvSpPr>
        <p:spPr>
          <a:xfrm>
            <a:off x="10332720" y="228600"/>
            <a:ext cx="1463040" cy="365760"/>
          </a:xfrm>
          <a:prstGeom prst="rect">
            <a:avLst/>
          </a:prstGeom>
          <a:noFill/>
        </p:spPr>
        <p:txBody>
          <a:bodyPr wrap="square">
            <a:spAutoFit/>
          </a:bodyPr>
          <a:lstStyle/>
          <a:p>
            <a:pPr algn="r"/>
            <a:r>
              <a:rPr sz="1000" b="0">
                <a:solidFill>
                  <a:srgbClr val="6B6690"/>
                </a:solidFill>
                <a:latin typeface="Arial"/>
              </a:rPr>
              <a:t>1 / 6</a:t>
            </a:r>
          </a:p>
        </p:txBody>
      </p:sp>
      <p:pic>
        <p:nvPicPr>
          <p:cNvPr id="5" name="Picture 4" descr="iitgn_seal.png"/>
          <p:cNvPicPr>
            <a:picLocks noChangeAspect="1"/>
          </p:cNvPicPr>
          <p:nvPr/>
        </p:nvPicPr>
        <p:blipFill>
          <a:blip r:embed="rId2"/>
          <a:stretch>
            <a:fillRect/>
          </a:stretch>
        </p:blipFill>
        <p:spPr>
          <a:xfrm>
            <a:off x="457200" y="6263640"/>
            <a:ext cx="411480" cy="411480"/>
          </a:xfrm>
          <a:prstGeom prst="rect">
            <a:avLst/>
          </a:prstGeom>
        </p:spPr>
      </p:pic>
      <p:sp>
        <p:nvSpPr>
          <p:cNvPr id="6" name="TextBox 5"/>
          <p:cNvSpPr txBox="1"/>
          <p:nvPr/>
        </p:nvSpPr>
        <p:spPr>
          <a:xfrm>
            <a:off x="960120" y="6309360"/>
            <a:ext cx="9144000" cy="365760"/>
          </a:xfrm>
          <a:prstGeom prst="rect">
            <a:avLst/>
          </a:prstGeom>
          <a:noFill/>
        </p:spPr>
        <p:txBody>
          <a:bodyPr wrap="square">
            <a:spAutoFit/>
          </a:bodyPr>
          <a:lstStyle/>
          <a:p>
            <a:pPr algn="l"/>
            <a:r>
              <a:rPr sz="800" b="0">
                <a:solidFill>
                  <a:srgbClr val="6B6690"/>
                </a:solidFill>
                <a:latin typeface="Arial"/>
              </a:rPr>
              <a:t>Indian Institute of Technology Gandhinagar · PG Diploma in AI-ML and Agentic AI Engineering · Cohort 2 · Build 1</a:t>
            </a:r>
          </a:p>
        </p:txBody>
      </p:sp>
      <p:sp>
        <p:nvSpPr>
          <p:cNvPr id="7" name="TextBox 6"/>
          <p:cNvSpPr txBox="1"/>
          <p:nvPr/>
        </p:nvSpPr>
        <p:spPr>
          <a:xfrm>
            <a:off x="457200" y="640080"/>
            <a:ext cx="11247120" cy="914400"/>
          </a:xfrm>
          <a:prstGeom prst="rect">
            <a:avLst/>
          </a:prstGeom>
          <a:noFill/>
        </p:spPr>
        <p:txBody>
          <a:bodyPr wrap="square">
            <a:spAutoFit/>
          </a:bodyPr>
          <a:lstStyle/>
          <a:p>
            <a:pPr algn="l">
              <a:spcAft>
                <a:spcPts val="600"/>
              </a:spcAft>
              <a:defRPr sz="2600" b="1" i="0">
                <a:solidFill>
                  <a:srgbClr val="0F294A"/>
                </a:solidFill>
                <a:latin typeface="Georgia"/>
              </a:defRPr>
            </a:pPr>
            <a:r>
              <a:t>Dr Menon's words, and our translation</a:t>
            </a:r>
          </a:p>
        </p:txBody>
      </p:sp>
      <p:sp>
        <p:nvSpPr>
          <p:cNvPr id="8" name="TextBox 7"/>
          <p:cNvSpPr txBox="1"/>
          <p:nvPr/>
        </p:nvSpPr>
        <p:spPr>
          <a:xfrm>
            <a:off x="457200" y="1645920"/>
            <a:ext cx="11247120" cy="4206240"/>
          </a:xfrm>
          <a:prstGeom prst="rect">
            <a:avLst/>
          </a:prstGeom>
          <a:noFill/>
        </p:spPr>
        <p:txBody>
          <a:bodyPr wrap="square">
            <a:spAutoFit/>
          </a:bodyPr>
          <a:lstStyle/>
          <a:p>
            <a:pPr algn="l">
              <a:spcAft>
                <a:spcPts val="300"/>
              </a:spcAft>
              <a:defRPr sz="1300" b="1" i="0">
                <a:solidFill>
                  <a:srgbClr val="0F294A"/>
                </a:solidFill>
                <a:latin typeface="Arial"/>
              </a:defRPr>
            </a:pPr>
            <a:r>
              <a:t>Her words:</a:t>
            </a:r>
          </a:p>
          <a:p>
            <a:pPr>
              <a:spcAft>
                <a:spcPts val="1200"/>
              </a:spcAft>
              <a:defRPr sz="1250" b="0" i="1">
                <a:solidFill>
                  <a:srgbClr val="1E293B"/>
                </a:solidFill>
                <a:latin typeface="Georgia"/>
              </a:defRPr>
            </a:pPr>
            <a:r>
              <a:t>“We grew 5% in H1 2026, but I need to know where that growth came from. Is it new patients or existing ones coming back? Are clinics driving it or home collection? And why are Jaipur and Chennai missing their targets?”</a:t>
            </a:r>
          </a:p>
          <a:p>
            <a:pPr>
              <a:spcAft>
                <a:spcPts val="300"/>
              </a:spcAft>
              <a:defRPr sz="1300" b="1" i="0">
                <a:solidFill>
                  <a:srgbClr val="0F294A"/>
                </a:solidFill>
                <a:latin typeface="Arial"/>
              </a:defRPr>
            </a:pPr>
            <a:r>
              <a:t>Our translation:</a:t>
            </a:r>
          </a:p>
          <a:p>
            <a:pPr>
              <a:spcAft>
                <a:spcPts val="1200"/>
              </a:spcAft>
              <a:defRPr sz="1200" b="0" i="0">
                <a:solidFill>
                  <a:srgbClr val="1E293B"/>
                </a:solidFill>
                <a:latin typeface="Arial"/>
              </a:defRPr>
            </a:pPr>
            <a:r>
              <a:t>A multiplicative Growth Tree (Results = Patients × Visits/Patient × Tests/Visit × Results/Test Booked) combined with Channel Shift (+13.5 pp Home vs -7.7 pp Clinic), Package expansion (12.5% to 15.9% share), and Plan Attainment analysis across all six cities.</a:t>
            </a:r>
          </a:p>
          <a:p>
            <a:pPr>
              <a:spcAft>
                <a:spcPts val="300"/>
              </a:spcAft>
              <a:defRPr sz="1300" b="1" i="0">
                <a:solidFill>
                  <a:srgbClr val="0F294A"/>
                </a:solidFill>
                <a:latin typeface="Arial"/>
              </a:defRPr>
            </a:pPr>
            <a:r>
              <a:t>The decision it drives:</a:t>
            </a:r>
          </a:p>
          <a:p>
            <a:pPr>
              <a:spcAft>
                <a:spcPts val="0"/>
              </a:spcAft>
              <a:defRPr sz="1200" b="0" i="0">
                <a:solidFill>
                  <a:srgbClr val="1E293B"/>
                </a:solidFill>
                <a:latin typeface="Arial"/>
              </a:defRPr>
            </a:pPr>
            <a:r>
              <a:t>Fleet capital reallocation toward scaling home phlebotomy capacity (+37.7% growth) versus consolidating clinic overheads (-12.1%), plus restructuring commercial patient acquisition in lagging markets (Jaipur -9.9%, Chennai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73152"/>
          </a:xfrm>
          <a:prstGeom prst="roundRect">
            <a:avLst>
              <a:gd name="adj" fmla="val 8000"/>
            </a:avLst>
          </a:prstGeom>
          <a:solidFill>
            <a:srgbClr val="4E38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7315200" cy="365760"/>
          </a:xfrm>
          <a:prstGeom prst="rect">
            <a:avLst/>
          </a:prstGeom>
          <a:noFill/>
        </p:spPr>
        <p:txBody>
          <a:bodyPr wrap="square">
            <a:spAutoFit/>
          </a:bodyPr>
          <a:lstStyle/>
          <a:p>
            <a:pPr algn="l"/>
            <a:r>
              <a:rPr sz="1000" b="1">
                <a:solidFill>
                  <a:srgbClr val="4E38AB"/>
                </a:solidFill>
                <a:latin typeface="Arial"/>
              </a:rPr>
              <a:t>2 · THE PICTURE</a:t>
            </a:r>
          </a:p>
        </p:txBody>
      </p:sp>
      <p:sp>
        <p:nvSpPr>
          <p:cNvPr id="4" name="TextBox 3"/>
          <p:cNvSpPr txBox="1"/>
          <p:nvPr/>
        </p:nvSpPr>
        <p:spPr>
          <a:xfrm>
            <a:off x="10332720" y="228600"/>
            <a:ext cx="1463040" cy="365760"/>
          </a:xfrm>
          <a:prstGeom prst="rect">
            <a:avLst/>
          </a:prstGeom>
          <a:noFill/>
        </p:spPr>
        <p:txBody>
          <a:bodyPr wrap="square">
            <a:spAutoFit/>
          </a:bodyPr>
          <a:lstStyle/>
          <a:p>
            <a:pPr algn="r"/>
            <a:r>
              <a:rPr sz="1000" b="0">
                <a:solidFill>
                  <a:srgbClr val="6B6690"/>
                </a:solidFill>
                <a:latin typeface="Arial"/>
              </a:rPr>
              <a:t>2 / 6</a:t>
            </a:r>
          </a:p>
        </p:txBody>
      </p:sp>
      <p:pic>
        <p:nvPicPr>
          <p:cNvPr id="5" name="Picture 4" descr="iitgn_seal.png"/>
          <p:cNvPicPr>
            <a:picLocks noChangeAspect="1"/>
          </p:cNvPicPr>
          <p:nvPr/>
        </p:nvPicPr>
        <p:blipFill>
          <a:blip r:embed="rId2"/>
          <a:stretch>
            <a:fillRect/>
          </a:stretch>
        </p:blipFill>
        <p:spPr>
          <a:xfrm>
            <a:off x="457200" y="6263640"/>
            <a:ext cx="411480" cy="411480"/>
          </a:xfrm>
          <a:prstGeom prst="rect">
            <a:avLst/>
          </a:prstGeom>
        </p:spPr>
      </p:pic>
      <p:sp>
        <p:nvSpPr>
          <p:cNvPr id="6" name="TextBox 5"/>
          <p:cNvSpPr txBox="1"/>
          <p:nvPr/>
        </p:nvSpPr>
        <p:spPr>
          <a:xfrm>
            <a:off x="960120" y="6309360"/>
            <a:ext cx="9144000" cy="365760"/>
          </a:xfrm>
          <a:prstGeom prst="rect">
            <a:avLst/>
          </a:prstGeom>
          <a:noFill/>
        </p:spPr>
        <p:txBody>
          <a:bodyPr wrap="square">
            <a:spAutoFit/>
          </a:bodyPr>
          <a:lstStyle/>
          <a:p>
            <a:pPr algn="l"/>
            <a:r>
              <a:rPr sz="800" b="0">
                <a:solidFill>
                  <a:srgbClr val="6B6690"/>
                </a:solidFill>
                <a:latin typeface="Arial"/>
              </a:rPr>
              <a:t>Indian Institute of Technology Gandhinagar · PG Diploma in AI-ML and Agentic AI Engineering · Cohort 2 · Build 1</a:t>
            </a:r>
          </a:p>
        </p:txBody>
      </p:sp>
      <p:sp>
        <p:nvSpPr>
          <p:cNvPr id="7" name="TextBox 6"/>
          <p:cNvSpPr txBox="1"/>
          <p:nvPr/>
        </p:nvSpPr>
        <p:spPr>
          <a:xfrm>
            <a:off x="457200" y="640080"/>
            <a:ext cx="11247120" cy="914400"/>
          </a:xfrm>
          <a:prstGeom prst="rect">
            <a:avLst/>
          </a:prstGeom>
          <a:noFill/>
        </p:spPr>
        <p:txBody>
          <a:bodyPr wrap="square">
            <a:spAutoFit/>
          </a:bodyPr>
          <a:lstStyle/>
          <a:p>
            <a:pPr algn="l">
              <a:spcAft>
                <a:spcPts val="600"/>
              </a:spcAft>
              <a:defRPr sz="2400" b="1" i="0">
                <a:solidFill>
                  <a:srgbClr val="0F294A"/>
                </a:solidFill>
                <a:latin typeface="Georgia"/>
              </a:defRPr>
            </a:pPr>
            <a:r>
              <a:t>The Growth Tree &amp; Channel Decomposition: H1 2025 vs H1 2026</a:t>
            </a:r>
          </a:p>
        </p:txBody>
      </p:sp>
      <p:sp>
        <p:nvSpPr>
          <p:cNvPr id="8" name="Rounded Rectangle 7"/>
          <p:cNvSpPr/>
          <p:nvPr/>
        </p:nvSpPr>
        <p:spPr>
          <a:xfrm>
            <a:off x="457200" y="1645920"/>
            <a:ext cx="11247120" cy="4206240"/>
          </a:xfrm>
          <a:prstGeom prst="roundRect">
            <a:avLst>
              <a:gd name="adj" fmla="val 8000"/>
            </a:avLst>
          </a:prstGeom>
          <a:solidFill>
            <a:srgbClr val="FFFFFF"/>
          </a:solidFill>
          <a:ln>
            <a:solidFill>
              <a:srgbClr val="D9D2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017520"/>
            <a:ext cx="10515600" cy="1463040"/>
          </a:xfrm>
          <a:prstGeom prst="rect">
            <a:avLst/>
          </a:prstGeom>
          <a:noFill/>
        </p:spPr>
        <p:txBody>
          <a:bodyPr wrap="square">
            <a:spAutoFit/>
          </a:bodyPr>
          <a:lstStyle/>
          <a:p>
            <a:pPr algn="ctr"/>
          </a:p>
        </p:txBody>
      </p:sp>
      <p:pic>
        <p:nvPicPr>
          <p:cNvPr id="10" name="Picture 9" descr="slide3_growth_tree.png"/>
          <p:cNvPicPr>
            <a:picLocks noChangeAspect="1"/>
          </p:cNvPicPr>
          <p:nvPr/>
        </p:nvPicPr>
        <p:blipFill>
          <a:blip r:embed="rId4"/>
          <a:stretch>
            <a:fillRect/>
          </a:stretch>
        </p:blipFill>
        <p:spPr>
          <a:xfrm>
            <a:off x="502920" y="1691640"/>
            <a:ext cx="11155680" cy="4114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