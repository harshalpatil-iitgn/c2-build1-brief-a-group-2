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Gantari Bold"/>
      <p:regular r:id="rId201314"/>
    </p:embeddedFont>
    <p:embeddedFont>
      <p:font typeface="Mozilla Text"/>
      <p:regular r:id="rId201315"/>
    </p:embeddedFont>
    <p:embeddedFont>
      <p:font typeface="Mozilla Text Medium"/>
      <p:regular r:id="rId201316"/>
    </p:embeddedFont>
    <p:embeddedFont>
      <p:font typeface="Mozilla Text SemiBold"/>
      <p:regular r:id="rId201317"/>
    </p:embeddedFont>
    <p:embeddedFont>
      <p:font typeface="Mozilla Text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distinction between a strong result and a proven explanation. Q1 test volume grew 10.26% year over year, but the supplied analysis does not establish what caused that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analysis joins three lenses. First, compare volume. Second, distinguish unique bookings from tests and isolate campaign-waiver bookings. Third, connect new-patient campaign activity to tests and revenue. The source did not include the original Python code, so do not overstate the preparation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headline result directly: Q1 2026 reached 33,849 tests versus 30,700 in Q1 2025, an increase of 3,149 tests or 10.26%. The result tells us that demand rose, not why it rose.
Source: q1-2025-test-volume-wfbz79hg.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donut to make the mix tangible. Campaign-waiver bookings account for 15,784 of 33,849 Q1 tests, or 46.63%. That is large enough to investigate seriously, but share of tests is still not the same as incremental impact.
Source: q1-2025-test-volume-wfbz79hg.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campaign-linked revenue total is meaningful, and the new-patient contribution is specific. But attribution alone cannot show lift. The supplied analysis does not establish incremental revenue, profit, campaign cost, gross margin, retention, or ROI.
Source: q1-2025-test-volume-wfbz79hg.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practical next step, not a claim of causality. Validate the funnel, create a matched or holdout comparison, and add cost, margin, and retention to the next analysis. The campaign is large enough to optimize, but spend should scale only when incremental value is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E1F4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16268"/>
            <a:ext cx="6705432" cy="220960"/>
          </a:xfrm>
          <a:prstGeom prst="rect">
            <a:avLst/>
          </a:prstGeom>
          <a:noFill/>
          <a:ln/>
        </p:spPr>
        <p:txBody>
          <a:bodyPr wrap="none" lIns="0" tIns="0" rIns="0" bIns="0" rtlCol="0" anchor="t"/>
          <a:lstStyle/>
          <a:p>
            <a:pPr algn="l" indent="0" marL="0">
              <a:lnSpc>
                <a:spcPct val="100000"/>
              </a:lnSpc>
              <a:buNone/>
            </a:pPr>
            <a:r>
              <a:rPr lang="en-US" sz="1450" spc="29" kern="100" dirty="0">
                <a:solidFill>
                  <a:srgbClr val="F0609E"/>
                </a:solidFill>
                <a:latin typeface="Mozilla Text SemiBold" pitchFamily="34" charset="0"/>
                <a:ea typeface="Mozilla Text SemiBold" pitchFamily="34" charset="-122"/>
                <a:cs typeface="Mozilla Text SemiBold" pitchFamily="34" charset="0"/>
              </a:rPr>
              <a:t>Q1 2026 · DIAGNOSTIC READOUT</a:t>
            </a:r>
            <a:endParaRPr lang="en-US" sz="1450" dirty="0"/>
          </a:p>
        </p:txBody>
      </p:sp>
      <p:sp>
        <p:nvSpPr>
          <p:cNvPr id="3" name="Text 1"/>
          <p:cNvSpPr/>
          <p:nvPr/>
        </p:nvSpPr>
        <p:spPr>
          <a:xfrm>
            <a:off x="609585" y="944834"/>
            <a:ext cx="6095848" cy="987425"/>
          </a:xfrm>
          <a:prstGeom prst="rect">
            <a:avLst/>
          </a:prstGeom>
          <a:noFill/>
          <a:ln/>
        </p:spPr>
        <p:txBody>
          <a:bodyPr wrap="square" lIns="0" tIns="0" rIns="0" bIns="0" rtlCol="0" anchor="t">
            <a:normAutofit/>
          </a:bodyPr>
          <a:lstStyle/>
          <a:p>
            <a:pPr algn="l" indent="0" marL="0">
              <a:lnSpc>
                <a:spcPct val="90000"/>
              </a:lnSpc>
              <a:buNone/>
            </a:pPr>
            <a:r>
              <a:rPr lang="en-US" sz="3600" b="1" spc="-18" kern="100" dirty="0">
                <a:solidFill>
                  <a:srgbClr val="F7F2E8"/>
                </a:solidFill>
                <a:latin typeface="Gantari Bold" pitchFamily="34" charset="0"/>
                <a:ea typeface="Gantari Bold" pitchFamily="34" charset="-122"/>
                <a:cs typeface="Gantari Bold" pitchFamily="34" charset="0"/>
              </a:rPr>
              <a:t>Q1 2026 grew test volume — now prove what drove it</a:t>
            </a:r>
            <a:endParaRPr lang="en-US" sz="3600" dirty="0"/>
          </a:p>
        </p:txBody>
      </p:sp>
      <p:sp>
        <p:nvSpPr>
          <p:cNvPr id="4" name="Text 2"/>
          <p:cNvSpPr/>
          <p:nvPr/>
        </p:nvSpPr>
        <p:spPr>
          <a:xfrm>
            <a:off x="609585" y="3998516"/>
            <a:ext cx="6095848" cy="1327150"/>
          </a:xfrm>
          <a:prstGeom prst="rect">
            <a:avLst/>
          </a:prstGeom>
          <a:noFill/>
          <a:ln/>
        </p:spPr>
        <p:txBody>
          <a:bodyPr wrap="none" lIns="0" tIns="0" rIns="0" bIns="0" rtlCol="0" anchor="t"/>
          <a:lstStyle/>
          <a:p>
            <a:pPr algn="l" indent="0" marL="0">
              <a:lnSpc>
                <a:spcPct val="79000"/>
              </a:lnSpc>
              <a:buNone/>
            </a:pPr>
            <a:r>
              <a:rPr lang="en-US" sz="11000" b="1" spc="-220" kern="100" dirty="0">
                <a:solidFill>
                  <a:srgbClr val="F0609E"/>
                </a:solidFill>
                <a:latin typeface="Gantari Bold" pitchFamily="34" charset="0"/>
                <a:ea typeface="Gantari Bold" pitchFamily="34" charset="-122"/>
                <a:cs typeface="Gantari Bold" pitchFamily="34" charset="0"/>
              </a:rPr>
              <a:t>+10.26%</a:t>
            </a:r>
            <a:endParaRPr lang="en-US" sz="11000" dirty="0"/>
          </a:p>
        </p:txBody>
      </p:sp>
      <p:sp>
        <p:nvSpPr>
          <p:cNvPr id="5" name="Text 3"/>
          <p:cNvSpPr/>
          <p:nvPr/>
        </p:nvSpPr>
        <p:spPr>
          <a:xfrm>
            <a:off x="609585" y="5387578"/>
            <a:ext cx="6705432" cy="360660"/>
          </a:xfrm>
          <a:prstGeom prst="rect">
            <a:avLst/>
          </a:prstGeom>
          <a:noFill/>
          <a:ln/>
        </p:spPr>
        <p:txBody>
          <a:bodyPr wrap="none" lIns="0" tIns="0" rIns="0" bIns="0" rtlCol="0" anchor="t"/>
          <a:lstStyle/>
          <a:p>
            <a:pPr algn="l" indent="0" marL="0">
              <a:lnSpc>
                <a:spcPct val="118000"/>
              </a:lnSpc>
              <a:buNone/>
            </a:pPr>
            <a:r>
              <a:rPr lang="en-US" sz="2000" dirty="0">
                <a:solidFill>
                  <a:srgbClr val="F7F2E8"/>
                </a:solidFill>
                <a:latin typeface="Mozilla Text" pitchFamily="34" charset="0"/>
                <a:ea typeface="Mozilla Text" pitchFamily="34" charset="-122"/>
                <a:cs typeface="Mozilla Text" pitchFamily="34" charset="0"/>
              </a:rPr>
              <a:t>year-over-year test volume growth</a:t>
            </a:r>
            <a:endParaRPr lang="en-US" sz="2000" dirty="0"/>
          </a:p>
        </p:txBody>
      </p:sp>
      <p:sp>
        <p:nvSpPr>
          <p:cNvPr id="6" name="Text 4"/>
          <p:cNvSpPr/>
          <p:nvPr/>
        </p:nvSpPr>
        <p:spPr>
          <a:xfrm>
            <a:off x="609585" y="5941913"/>
            <a:ext cx="6705432" cy="306487"/>
          </a:xfrm>
          <a:prstGeom prst="rect">
            <a:avLst/>
          </a:prstGeom>
          <a:noFill/>
          <a:ln/>
        </p:spPr>
        <p:txBody>
          <a:bodyPr wrap="none" lIns="0" tIns="0" rIns="0" bIns="0" rtlCol="0" anchor="t"/>
          <a:lstStyle/>
          <a:p>
            <a:pPr algn="l" indent="0" marL="0">
              <a:lnSpc>
                <a:spcPct val="118000"/>
              </a:lnSpc>
              <a:buNone/>
            </a:pPr>
            <a:r>
              <a:rPr lang="en-US" sz="1700" dirty="0">
                <a:solidFill>
                  <a:srgbClr val="C2C8D8"/>
                </a:solidFill>
                <a:latin typeface="Mozilla Text" pitchFamily="34" charset="0"/>
                <a:ea typeface="Mozilla Text" pitchFamily="34" charset="-122"/>
                <a:cs typeface="Mozilla Text" pitchFamily="34" charset="0"/>
              </a:rPr>
              <a:t>The signal is strong. The cause is still open.</a:t>
            </a:r>
            <a:endParaRPr lang="en-US" sz="1700" dirty="0"/>
          </a:p>
        </p:txBody>
      </p:sp>
      <p:pic>
        <p:nvPicPr>
          <p:cNvPr id="7" name="Image 0" descr="preencoded.png">    </p:cNvPr>
          <p:cNvPicPr>
            <a:picLocks noChangeAspect="1"/>
          </p:cNvPicPr>
          <p:nvPr/>
        </p:nvPicPr>
        <p:blipFill>
          <a:blip r:embed="rId1"/>
          <a:stretch>
            <a:fillRect/>
          </a:stretch>
        </p:blipFill>
        <p:spPr>
          <a:xfrm>
            <a:off x="7315017" y="0"/>
            <a:ext cx="487667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6268"/>
            <a:ext cx="11582110" cy="220960"/>
          </a:xfrm>
          <a:prstGeom prst="rect">
            <a:avLst/>
          </a:prstGeom>
          <a:noFill/>
          <a:ln/>
        </p:spPr>
        <p:txBody>
          <a:bodyPr wrap="none" lIns="0" tIns="0" rIns="0" bIns="0" rtlCol="0" anchor="t"/>
          <a:lstStyle/>
          <a:p>
            <a:pPr algn="l" indent="0" marL="0">
              <a:lnSpc>
                <a:spcPct val="100000"/>
              </a:lnSpc>
              <a:buNone/>
            </a:pPr>
            <a:r>
              <a:rPr lang="en-US" sz="1450" spc="29" kern="100" dirty="0">
                <a:solidFill>
                  <a:srgbClr val="F0609E"/>
                </a:solidFill>
                <a:latin typeface="Mozilla Text SemiBold" pitchFamily="34" charset="0"/>
                <a:ea typeface="Mozilla Text SemiBold" pitchFamily="34" charset="-122"/>
                <a:cs typeface="Mozilla Text SemiBold" pitchFamily="34" charset="0"/>
              </a:rPr>
              <a:t>ANALYSIS FRAME</a:t>
            </a:r>
            <a:endParaRPr lang="en-US" sz="1450" dirty="0"/>
          </a:p>
        </p:txBody>
      </p:sp>
      <p:sp>
        <p:nvSpPr>
          <p:cNvPr id="3" name="Text 1"/>
          <p:cNvSpPr/>
          <p:nvPr/>
        </p:nvSpPr>
        <p:spPr>
          <a:xfrm>
            <a:off x="609585" y="944834"/>
            <a:ext cx="10972526" cy="987425"/>
          </a:xfrm>
          <a:prstGeom prst="rect">
            <a:avLst/>
          </a:prstGeom>
          <a:noFill/>
          <a:ln/>
        </p:spPr>
        <p:txBody>
          <a:bodyPr wrap="square" lIns="0" tIns="0" rIns="0" bIns="0" rtlCol="0" anchor="t">
            <a:normAutofit/>
          </a:bodyPr>
          <a:lstStyle/>
          <a:p>
            <a:pPr algn="l" indent="0" marL="0">
              <a:lnSpc>
                <a:spcPct val="90000"/>
              </a:lnSpc>
              <a:buNone/>
            </a:pPr>
            <a:r>
              <a:rPr lang="en-US" sz="3600" b="1" spc="-18" kern="100" dirty="0">
                <a:solidFill>
                  <a:srgbClr val="F7F2E8"/>
                </a:solidFill>
                <a:latin typeface="Gantari Bold" pitchFamily="34" charset="0"/>
                <a:ea typeface="Gantari Bold" pitchFamily="34" charset="-122"/>
                <a:cs typeface="Gantari Bold" pitchFamily="34" charset="0"/>
              </a:rPr>
              <a:t>The analysis joins volume, bookings, and campaign-linked revenue</a:t>
            </a:r>
            <a:endParaRPr lang="en-US" sz="3600" dirty="0"/>
          </a:p>
        </p:txBody>
      </p:sp>
      <p:sp>
        <p:nvSpPr>
          <p:cNvPr id="4" name="Text 2"/>
          <p:cNvSpPr/>
          <p:nvPr/>
        </p:nvSpPr>
        <p:spPr>
          <a:xfrm>
            <a:off x="609585" y="2119610"/>
            <a:ext cx="11582110" cy="360660"/>
          </a:xfrm>
          <a:prstGeom prst="rect">
            <a:avLst/>
          </a:prstGeom>
          <a:noFill/>
          <a:ln/>
        </p:spPr>
        <p:txBody>
          <a:bodyPr wrap="none" lIns="0" tIns="0" rIns="0" bIns="0" rtlCol="0" anchor="t"/>
          <a:lstStyle/>
          <a:p>
            <a:pPr algn="l" indent="0" marL="0">
              <a:lnSpc>
                <a:spcPct val="118000"/>
              </a:lnSpc>
              <a:buNone/>
            </a:pPr>
            <a:r>
              <a:rPr lang="en-US" sz="2000" dirty="0">
                <a:solidFill>
                  <a:srgbClr val="F7F2E8"/>
                </a:solidFill>
                <a:latin typeface="Mozilla Text" pitchFamily="34" charset="0"/>
                <a:ea typeface="Mozilla Text" pitchFamily="34" charset="-122"/>
                <a:cs typeface="Mozilla Text" pitchFamily="34" charset="0"/>
              </a:rPr>
              <a:t>Three views are connected so the growth signal can be tested rather than assumed.</a:t>
            </a:r>
            <a:endParaRPr lang="en-US" sz="2000" dirty="0"/>
          </a:p>
        </p:txBody>
      </p:sp>
      <p:sp>
        <p:nvSpPr>
          <p:cNvPr id="5" name="Shape 3"/>
          <p:cNvSpPr/>
          <p:nvPr/>
        </p:nvSpPr>
        <p:spPr>
          <a:xfrm>
            <a:off x="609585" y="2683470"/>
            <a:ext cx="507987" cy="508000"/>
          </a:xfrm>
          <a:prstGeom prst="ellipse">
            <a:avLst/>
          </a:prstGeom>
          <a:solidFill>
            <a:srgbClr val="F0609E"/>
          </a:solidFill>
          <a:ln/>
        </p:spPr>
      </p:sp>
      <p:sp>
        <p:nvSpPr>
          <p:cNvPr id="6" name="Text 4"/>
          <p:cNvSpPr/>
          <p:nvPr/>
        </p:nvSpPr>
        <p:spPr>
          <a:xfrm>
            <a:off x="744916" y="2823170"/>
            <a:ext cx="846910" cy="228600"/>
          </a:xfrm>
          <a:prstGeom prst="rect">
            <a:avLst/>
          </a:prstGeom>
          <a:noFill/>
          <a:ln/>
        </p:spPr>
        <p:txBody>
          <a:bodyPr wrap="none" lIns="0" tIns="0" rIns="0" bIns="0" rtlCol="0" anchor="t"/>
          <a:lstStyle/>
          <a:p>
            <a:pPr algn="l" indent="0" marL="0">
              <a:lnSpc>
                <a:spcPct val="83000"/>
              </a:lnSpc>
              <a:buNone/>
            </a:pPr>
            <a:r>
              <a:rPr lang="en-US" sz="1800" b="1" dirty="0">
                <a:solidFill>
                  <a:srgbClr val="0E1F45"/>
                </a:solidFill>
                <a:latin typeface="Gantari Bold" pitchFamily="34" charset="0"/>
                <a:ea typeface="Gantari Bold" pitchFamily="34" charset="-122"/>
                <a:cs typeface="Gantari Bold" pitchFamily="34" charset="0"/>
              </a:rPr>
              <a:t>01</a:t>
            </a:r>
            <a:endParaRPr lang="en-US" sz="1800" dirty="0"/>
          </a:p>
        </p:txBody>
      </p:sp>
      <p:sp>
        <p:nvSpPr>
          <p:cNvPr id="7" name="Text 5"/>
          <p:cNvSpPr/>
          <p:nvPr/>
        </p:nvSpPr>
        <p:spPr>
          <a:xfrm>
            <a:off x="609585" y="3324126"/>
            <a:ext cx="345431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Compare volume</a:t>
            </a:r>
            <a:endParaRPr lang="en-US" sz="2000" dirty="0"/>
          </a:p>
        </p:txBody>
      </p:sp>
      <p:sp>
        <p:nvSpPr>
          <p:cNvPr id="8" name="Text 6"/>
          <p:cNvSpPr/>
          <p:nvPr/>
        </p:nvSpPr>
        <p:spPr>
          <a:xfrm>
            <a:off x="609585" y="3806726"/>
            <a:ext cx="3454314" cy="522883"/>
          </a:xfrm>
          <a:prstGeom prst="rect">
            <a:avLst/>
          </a:prstGeom>
          <a:noFill/>
          <a:ln/>
        </p:spPr>
        <p:txBody>
          <a:bodyPr wrap="square" lIns="0" tIns="0" rIns="0" bIns="0" rtlCol="0" anchor="t">
            <a:normAutofit/>
          </a:bodyPr>
          <a:lstStyle/>
          <a:p>
            <a:pPr algn="l" indent="0" marL="0">
              <a:lnSpc>
                <a:spcPct val="118000"/>
              </a:lnSpc>
              <a:buNone/>
            </a:pPr>
            <a:r>
              <a:rPr lang="en-US" sz="1450" dirty="0">
                <a:solidFill>
                  <a:srgbClr val="F7F2E8"/>
                </a:solidFill>
                <a:latin typeface="Mozilla Text" pitchFamily="34" charset="0"/>
                <a:ea typeface="Mozilla Text" pitchFamily="34" charset="-122"/>
                <a:cs typeface="Mozilla Text" pitchFamily="34" charset="0"/>
              </a:rPr>
              <a:t>Quarterly test volume across 2025 and 2026.</a:t>
            </a:r>
            <a:endParaRPr lang="en-US" sz="1450" dirty="0"/>
          </a:p>
        </p:txBody>
      </p:sp>
      <p:sp>
        <p:nvSpPr>
          <p:cNvPr id="9" name="Shape 7"/>
          <p:cNvSpPr/>
          <p:nvPr/>
        </p:nvSpPr>
        <p:spPr>
          <a:xfrm>
            <a:off x="4368691" y="2683470"/>
            <a:ext cx="507987" cy="508000"/>
          </a:xfrm>
          <a:prstGeom prst="ellipse">
            <a:avLst/>
          </a:prstGeom>
          <a:solidFill>
            <a:srgbClr val="F0609E"/>
          </a:solidFill>
          <a:ln/>
        </p:spPr>
      </p:sp>
      <p:sp>
        <p:nvSpPr>
          <p:cNvPr id="10" name="Text 8"/>
          <p:cNvSpPr/>
          <p:nvPr/>
        </p:nvSpPr>
        <p:spPr>
          <a:xfrm>
            <a:off x="4490528" y="2823170"/>
            <a:ext cx="873897" cy="228600"/>
          </a:xfrm>
          <a:prstGeom prst="rect">
            <a:avLst/>
          </a:prstGeom>
          <a:noFill/>
          <a:ln/>
        </p:spPr>
        <p:txBody>
          <a:bodyPr wrap="none" lIns="0" tIns="0" rIns="0" bIns="0" rtlCol="0" anchor="t"/>
          <a:lstStyle/>
          <a:p>
            <a:pPr algn="l" indent="0" marL="0">
              <a:lnSpc>
                <a:spcPct val="83000"/>
              </a:lnSpc>
              <a:buNone/>
            </a:pPr>
            <a:r>
              <a:rPr lang="en-US" sz="1800" b="1" dirty="0">
                <a:solidFill>
                  <a:srgbClr val="0E1F45"/>
                </a:solidFill>
                <a:latin typeface="Gantari Bold" pitchFamily="34" charset="0"/>
                <a:ea typeface="Gantari Bold" pitchFamily="34" charset="-122"/>
                <a:cs typeface="Gantari Bold" pitchFamily="34" charset="0"/>
              </a:rPr>
              <a:t>02</a:t>
            </a:r>
            <a:endParaRPr lang="en-US" sz="1800" dirty="0"/>
          </a:p>
        </p:txBody>
      </p:sp>
      <p:sp>
        <p:nvSpPr>
          <p:cNvPr id="11" name="Text 9"/>
          <p:cNvSpPr/>
          <p:nvPr/>
        </p:nvSpPr>
        <p:spPr>
          <a:xfrm>
            <a:off x="4368691" y="3324126"/>
            <a:ext cx="345431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Separate bookings</a:t>
            </a:r>
            <a:endParaRPr lang="en-US" sz="2000" dirty="0"/>
          </a:p>
        </p:txBody>
      </p:sp>
      <p:sp>
        <p:nvSpPr>
          <p:cNvPr id="12" name="Text 10"/>
          <p:cNvSpPr/>
          <p:nvPr/>
        </p:nvSpPr>
        <p:spPr>
          <a:xfrm>
            <a:off x="4368691" y="3806726"/>
            <a:ext cx="3454314" cy="522883"/>
          </a:xfrm>
          <a:prstGeom prst="rect">
            <a:avLst/>
          </a:prstGeom>
          <a:noFill/>
          <a:ln/>
        </p:spPr>
        <p:txBody>
          <a:bodyPr wrap="square" lIns="0" tIns="0" rIns="0" bIns="0" rtlCol="0" anchor="t">
            <a:normAutofit/>
          </a:bodyPr>
          <a:lstStyle/>
          <a:p>
            <a:pPr algn="l" indent="0" marL="0">
              <a:lnSpc>
                <a:spcPct val="118000"/>
              </a:lnSpc>
              <a:buNone/>
            </a:pPr>
            <a:r>
              <a:rPr lang="en-US" sz="1450" dirty="0">
                <a:solidFill>
                  <a:srgbClr val="F7F2E8"/>
                </a:solidFill>
                <a:latin typeface="Mozilla Text" pitchFamily="34" charset="0"/>
                <a:ea typeface="Mozilla Text" pitchFamily="34" charset="-122"/>
                <a:cs typeface="Mozilla Text" pitchFamily="34" charset="0"/>
              </a:rPr>
              <a:t>Unique bookings, including campaign-waiver bookings.</a:t>
            </a:r>
            <a:endParaRPr lang="en-US" sz="1450" dirty="0"/>
          </a:p>
        </p:txBody>
      </p:sp>
      <p:sp>
        <p:nvSpPr>
          <p:cNvPr id="13" name="Shape 11"/>
          <p:cNvSpPr/>
          <p:nvPr/>
        </p:nvSpPr>
        <p:spPr>
          <a:xfrm>
            <a:off x="8127797" y="2683470"/>
            <a:ext cx="507987" cy="508000"/>
          </a:xfrm>
          <a:prstGeom prst="ellipse">
            <a:avLst/>
          </a:prstGeom>
          <a:solidFill>
            <a:srgbClr val="FF8A3D"/>
          </a:solidFill>
          <a:ln/>
        </p:spPr>
      </p:sp>
      <p:sp>
        <p:nvSpPr>
          <p:cNvPr id="14" name="Text 12"/>
          <p:cNvSpPr/>
          <p:nvPr/>
        </p:nvSpPr>
        <p:spPr>
          <a:xfrm>
            <a:off x="8249634" y="2823170"/>
            <a:ext cx="873897" cy="228600"/>
          </a:xfrm>
          <a:prstGeom prst="rect">
            <a:avLst/>
          </a:prstGeom>
          <a:noFill/>
          <a:ln/>
        </p:spPr>
        <p:txBody>
          <a:bodyPr wrap="none" lIns="0" tIns="0" rIns="0" bIns="0" rtlCol="0" anchor="t"/>
          <a:lstStyle/>
          <a:p>
            <a:pPr algn="l" indent="0" marL="0">
              <a:lnSpc>
                <a:spcPct val="83000"/>
              </a:lnSpc>
              <a:buNone/>
            </a:pPr>
            <a:r>
              <a:rPr lang="en-US" sz="1800" b="1" dirty="0">
                <a:solidFill>
                  <a:srgbClr val="0E1F45"/>
                </a:solidFill>
                <a:latin typeface="Gantari Bold" pitchFamily="34" charset="0"/>
                <a:ea typeface="Gantari Bold" pitchFamily="34" charset="-122"/>
                <a:cs typeface="Gantari Bold" pitchFamily="34" charset="0"/>
              </a:rPr>
              <a:t>03</a:t>
            </a:r>
            <a:endParaRPr lang="en-US" sz="1800" dirty="0"/>
          </a:p>
        </p:txBody>
      </p:sp>
      <p:sp>
        <p:nvSpPr>
          <p:cNvPr id="15" name="Text 13"/>
          <p:cNvSpPr/>
          <p:nvPr/>
        </p:nvSpPr>
        <p:spPr>
          <a:xfrm>
            <a:off x="8127797" y="3324126"/>
            <a:ext cx="345431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Link outcomes</a:t>
            </a:r>
            <a:endParaRPr lang="en-US" sz="2000" dirty="0"/>
          </a:p>
        </p:txBody>
      </p:sp>
      <p:sp>
        <p:nvSpPr>
          <p:cNvPr id="16" name="Text 14"/>
          <p:cNvSpPr/>
          <p:nvPr/>
        </p:nvSpPr>
        <p:spPr>
          <a:xfrm>
            <a:off x="8127797" y="3806726"/>
            <a:ext cx="3454314" cy="522883"/>
          </a:xfrm>
          <a:prstGeom prst="rect">
            <a:avLst/>
          </a:prstGeom>
          <a:noFill/>
          <a:ln/>
        </p:spPr>
        <p:txBody>
          <a:bodyPr wrap="square" lIns="0" tIns="0" rIns="0" bIns="0" rtlCol="0" anchor="t">
            <a:normAutofit/>
          </a:bodyPr>
          <a:lstStyle/>
          <a:p>
            <a:pPr algn="l" indent="0" marL="0">
              <a:lnSpc>
                <a:spcPct val="118000"/>
              </a:lnSpc>
              <a:buNone/>
            </a:pPr>
            <a:r>
              <a:rPr lang="en-US" sz="1450" dirty="0">
                <a:solidFill>
                  <a:srgbClr val="F7F2E8"/>
                </a:solidFill>
                <a:latin typeface="Mozilla Text" pitchFamily="34" charset="0"/>
                <a:ea typeface="Mozilla Text" pitchFamily="34" charset="-122"/>
                <a:cs typeface="Mozilla Text" pitchFamily="34" charset="0"/>
              </a:rPr>
              <a:t>New-patient campaign activity, tests, and revenue.</a:t>
            </a:r>
            <a:endParaRPr lang="en-US" sz="1450" dirty="0"/>
          </a:p>
        </p:txBody>
      </p:sp>
      <p:sp>
        <p:nvSpPr>
          <p:cNvPr id="17" name="Text 15"/>
          <p:cNvSpPr/>
          <p:nvPr/>
        </p:nvSpPr>
        <p:spPr>
          <a:xfrm>
            <a:off x="609585" y="4523284"/>
            <a:ext cx="11582110" cy="248543"/>
          </a:xfrm>
          <a:prstGeom prst="rect">
            <a:avLst/>
          </a:prstGeom>
          <a:noFill/>
          <a:ln/>
        </p:spPr>
        <p:txBody>
          <a:bodyPr wrap="none" lIns="0" tIns="0" rIns="0" bIns="0" rtlCol="0" anchor="t"/>
          <a:lstStyle/>
          <a:p>
            <a:pPr algn="l" indent="0" marL="0">
              <a:lnSpc>
                <a:spcPct val="113000"/>
              </a:lnSpc>
              <a:buNone/>
            </a:pPr>
            <a:r>
              <a:rPr lang="en-US" sz="1450" spc="7" kern="100" dirty="0">
                <a:solidFill>
                  <a:srgbClr val="C2C8D8"/>
                </a:solidFill>
                <a:latin typeface="Mozilla Text" pitchFamily="34" charset="0"/>
                <a:ea typeface="Mozilla Text" pitchFamily="34" charset="-122"/>
                <a:cs typeface="Mozilla Text" pitchFamily="34" charset="0"/>
              </a:rPr>
              <a:t>Preparation steps are reconstructed at a high level because the original Python code was not supplied.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6268"/>
            <a:ext cx="11582110" cy="220960"/>
          </a:xfrm>
          <a:prstGeom prst="rect">
            <a:avLst/>
          </a:prstGeom>
          <a:noFill/>
          <a:ln/>
        </p:spPr>
        <p:txBody>
          <a:bodyPr wrap="none" lIns="0" tIns="0" rIns="0" bIns="0" rtlCol="0" anchor="t"/>
          <a:lstStyle/>
          <a:p>
            <a:pPr algn="l" indent="0" marL="0">
              <a:lnSpc>
                <a:spcPct val="100000"/>
              </a:lnSpc>
              <a:buNone/>
            </a:pPr>
            <a:r>
              <a:rPr lang="en-US" sz="1450" spc="29" kern="100" dirty="0">
                <a:solidFill>
                  <a:srgbClr val="F0609E"/>
                </a:solidFill>
                <a:latin typeface="Mozilla Text SemiBold" pitchFamily="34" charset="0"/>
                <a:ea typeface="Mozilla Text SemiBold" pitchFamily="34" charset="-122"/>
                <a:cs typeface="Mozilla Text SemiBold" pitchFamily="34" charset="0"/>
              </a:rPr>
              <a:t>VOLUME SIGNAL</a:t>
            </a:r>
            <a:endParaRPr lang="en-US" sz="1450" dirty="0"/>
          </a:p>
        </p:txBody>
      </p:sp>
      <p:sp>
        <p:nvSpPr>
          <p:cNvPr id="3" name="Text 1"/>
          <p:cNvSpPr/>
          <p:nvPr/>
        </p:nvSpPr>
        <p:spPr>
          <a:xfrm>
            <a:off x="609585" y="944834"/>
            <a:ext cx="10972526" cy="493713"/>
          </a:xfrm>
          <a:prstGeom prst="rect">
            <a:avLst/>
          </a:prstGeom>
          <a:noFill/>
          <a:ln/>
        </p:spPr>
        <p:txBody>
          <a:bodyPr wrap="none" lIns="0" tIns="0" rIns="0" bIns="0" rtlCol="0" anchor="t"/>
          <a:lstStyle/>
          <a:p>
            <a:pPr algn="l" indent="0" marL="0">
              <a:lnSpc>
                <a:spcPct val="90000"/>
              </a:lnSpc>
              <a:buNone/>
            </a:pPr>
            <a:r>
              <a:rPr lang="en-US" sz="3600" b="1" spc="-18" kern="100" dirty="0">
                <a:solidFill>
                  <a:srgbClr val="F7F2E8"/>
                </a:solidFill>
                <a:latin typeface="Gantari Bold" pitchFamily="34" charset="0"/>
                <a:ea typeface="Gantari Bold" pitchFamily="34" charset="-122"/>
                <a:cs typeface="Gantari Bold" pitchFamily="34" charset="0"/>
              </a:rPr>
              <a:t>Q1 test volume increased 10.26% year over year</a:t>
            </a:r>
            <a:endParaRPr lang="en-US" sz="3600" dirty="0"/>
          </a:p>
        </p:txBody>
      </p:sp>
      <p:sp>
        <p:nvSpPr>
          <p:cNvPr id="4" name="Text 2"/>
          <p:cNvSpPr/>
          <p:nvPr/>
        </p:nvSpPr>
        <p:spPr>
          <a:xfrm>
            <a:off x="609585" y="2505750"/>
            <a:ext cx="2804149" cy="940991"/>
          </a:xfrm>
          <a:prstGeom prst="rect">
            <a:avLst/>
          </a:prstGeom>
          <a:noFill/>
          <a:ln/>
        </p:spPr>
        <p:txBody>
          <a:bodyPr wrap="none" lIns="0" tIns="0" rIns="0" bIns="0" rtlCol="0" anchor="t"/>
          <a:lstStyle/>
          <a:p>
            <a:pPr algn="l" indent="0" marL="0">
              <a:lnSpc>
                <a:spcPct val="79000"/>
              </a:lnSpc>
              <a:buNone/>
            </a:pPr>
            <a:r>
              <a:rPr lang="en-US" sz="7800" b="1" spc="-156" kern="100" dirty="0">
                <a:solidFill>
                  <a:srgbClr val="F0609E"/>
                </a:solidFill>
                <a:latin typeface="Gantari Bold" pitchFamily="34" charset="0"/>
                <a:ea typeface="Gantari Bold" pitchFamily="34" charset="-122"/>
                <a:cs typeface="Gantari Bold" pitchFamily="34" charset="0"/>
              </a:rPr>
              <a:t>+3,149</a:t>
            </a:r>
            <a:endParaRPr lang="en-US" sz="7800" dirty="0"/>
          </a:p>
        </p:txBody>
      </p:sp>
      <p:sp>
        <p:nvSpPr>
          <p:cNvPr id="5" name="Text 3"/>
          <p:cNvSpPr/>
          <p:nvPr/>
        </p:nvSpPr>
        <p:spPr>
          <a:xfrm>
            <a:off x="609585" y="3631505"/>
            <a:ext cx="2804149" cy="360660"/>
          </a:xfrm>
          <a:prstGeom prst="rect">
            <a:avLst/>
          </a:prstGeom>
          <a:noFill/>
          <a:ln/>
        </p:spPr>
        <p:txBody>
          <a:bodyPr wrap="none" lIns="0" tIns="0" rIns="0" bIns="0" rtlCol="0" anchor="t"/>
          <a:lstStyle/>
          <a:p>
            <a:pPr algn="l" indent="0" marL="0">
              <a:lnSpc>
                <a:spcPct val="118000"/>
              </a:lnSpc>
              <a:buNone/>
            </a:pPr>
            <a:r>
              <a:rPr lang="en-US" sz="2000" dirty="0">
                <a:solidFill>
                  <a:srgbClr val="F7F2E8"/>
                </a:solidFill>
                <a:latin typeface="Mozilla Text" pitchFamily="34" charset="0"/>
                <a:ea typeface="Mozilla Text" pitchFamily="34" charset="-122"/>
                <a:cs typeface="Mozilla Text" pitchFamily="34" charset="0"/>
              </a:rPr>
              <a:t>tests in Q1</a:t>
            </a:r>
            <a:endParaRPr lang="en-US" sz="2000" dirty="0"/>
          </a:p>
        </p:txBody>
      </p:sp>
      <p:sp>
        <p:nvSpPr>
          <p:cNvPr id="6" name="Text 4"/>
          <p:cNvSpPr/>
          <p:nvPr/>
        </p:nvSpPr>
        <p:spPr>
          <a:xfrm>
            <a:off x="609585" y="4119166"/>
            <a:ext cx="2804149" cy="919460"/>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C2C8D8"/>
                </a:solidFill>
                <a:latin typeface="Mozilla Text" pitchFamily="34" charset="0"/>
                <a:ea typeface="Mozilla Text" pitchFamily="34" charset="-122"/>
                <a:cs typeface="Mozilla Text" pitchFamily="34" charset="0"/>
              </a:rPr>
              <a:t>A stronger demand signal, with no causal driver established.</a:t>
            </a:r>
            <a:endParaRPr lang="en-US" sz="1700" dirty="0"/>
          </a:p>
        </p:txBody>
      </p:sp>
      <p:pic>
        <p:nvPicPr>
          <p:cNvPr id="7" name="Image 0" descr="preencoded.png">    </p:cNvPr>
          <p:cNvPicPr>
            <a:picLocks noChangeAspect="1"/>
          </p:cNvPicPr>
          <p:nvPr/>
        </p:nvPicPr>
        <p:blipFill>
          <a:blip r:embed="rId1"/>
          <a:stretch>
            <a:fillRect/>
          </a:stretch>
        </p:blipFill>
        <p:spPr>
          <a:xfrm>
            <a:off x="3870823" y="2128540"/>
            <a:ext cx="7619809" cy="3175000"/>
          </a:xfrm>
          <a:prstGeom prst="rect">
            <a:avLst/>
          </a:prstGeom>
        </p:spPr>
      </p:pic>
      <p:sp>
        <p:nvSpPr>
          <p:cNvPr id="8" name="Text 5"/>
          <p:cNvSpPr/>
          <p:nvPr/>
        </p:nvSpPr>
        <p:spPr>
          <a:xfrm>
            <a:off x="609585" y="5999857"/>
            <a:ext cx="11582110" cy="248543"/>
          </a:xfrm>
          <a:prstGeom prst="rect">
            <a:avLst/>
          </a:prstGeom>
          <a:noFill/>
          <a:ln/>
        </p:spPr>
        <p:txBody>
          <a:bodyPr wrap="none" lIns="0" tIns="0" rIns="0" bIns="0" rtlCol="0" anchor="t"/>
          <a:lstStyle/>
          <a:p>
            <a:pPr algn="l" indent="0" marL="0">
              <a:lnSpc>
                <a:spcPct val="113000"/>
              </a:lnSpc>
              <a:buNone/>
            </a:pPr>
            <a:r>
              <a:rPr lang="en-US" sz="1450" spc="7" kern="100" dirty="0">
                <a:solidFill>
                  <a:srgbClr val="C2C8D8"/>
                </a:solidFill>
                <a:latin typeface="Mozilla Text" pitchFamily="34" charset="0"/>
                <a:ea typeface="Mozilla Text" pitchFamily="34" charset="-122"/>
                <a:cs typeface="Mozilla Text" pitchFamily="34" charset="0"/>
              </a:rPr>
              <a:t>Q1 2025 versus Q1 2026 test volume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6268"/>
            <a:ext cx="11582110" cy="220960"/>
          </a:xfrm>
          <a:prstGeom prst="rect">
            <a:avLst/>
          </a:prstGeom>
          <a:noFill/>
          <a:ln/>
        </p:spPr>
        <p:txBody>
          <a:bodyPr wrap="none" lIns="0" tIns="0" rIns="0" bIns="0" rtlCol="0" anchor="t"/>
          <a:lstStyle/>
          <a:p>
            <a:pPr algn="l" indent="0" marL="0">
              <a:lnSpc>
                <a:spcPct val="100000"/>
              </a:lnSpc>
              <a:buNone/>
            </a:pPr>
            <a:r>
              <a:rPr lang="en-US" sz="1450" spc="29" kern="100" dirty="0">
                <a:solidFill>
                  <a:srgbClr val="F0609E"/>
                </a:solidFill>
                <a:latin typeface="Mozilla Text SemiBold" pitchFamily="34" charset="0"/>
                <a:ea typeface="Mozilla Text SemiBold" pitchFamily="34" charset="-122"/>
                <a:cs typeface="Mozilla Text SemiBold" pitchFamily="34" charset="0"/>
              </a:rPr>
              <a:t>CAMPAIGN MIX</a:t>
            </a:r>
            <a:endParaRPr lang="en-US" sz="1450" dirty="0"/>
          </a:p>
        </p:txBody>
      </p:sp>
      <p:sp>
        <p:nvSpPr>
          <p:cNvPr id="3" name="Text 1"/>
          <p:cNvSpPr/>
          <p:nvPr/>
        </p:nvSpPr>
        <p:spPr>
          <a:xfrm>
            <a:off x="609585" y="944834"/>
            <a:ext cx="10972526" cy="987425"/>
          </a:xfrm>
          <a:prstGeom prst="rect">
            <a:avLst/>
          </a:prstGeom>
          <a:noFill/>
          <a:ln/>
        </p:spPr>
        <p:txBody>
          <a:bodyPr wrap="square" lIns="0" tIns="0" rIns="0" bIns="0" rtlCol="0" anchor="t">
            <a:normAutofit/>
          </a:bodyPr>
          <a:lstStyle/>
          <a:p>
            <a:pPr algn="l" indent="0" marL="0">
              <a:lnSpc>
                <a:spcPct val="90000"/>
              </a:lnSpc>
              <a:buNone/>
            </a:pPr>
            <a:r>
              <a:rPr lang="en-US" sz="3600" b="1" spc="-18" kern="100" dirty="0">
                <a:solidFill>
                  <a:srgbClr val="F7F2E8"/>
                </a:solidFill>
                <a:latin typeface="Gantari Bold" pitchFamily="34" charset="0"/>
                <a:ea typeface="Gantari Bold" pitchFamily="34" charset="-122"/>
                <a:cs typeface="Gantari Bold" pitchFamily="34" charset="0"/>
              </a:rPr>
              <a:t>Campaign-waiver bookings touched nearly half of Q1 tests</a:t>
            </a:r>
            <a:endParaRPr lang="en-US" sz="3600" dirty="0"/>
          </a:p>
        </p:txBody>
      </p:sp>
      <p:sp>
        <p:nvSpPr>
          <p:cNvPr id="4" name="Text 2"/>
          <p:cNvSpPr/>
          <p:nvPr/>
        </p:nvSpPr>
        <p:spPr>
          <a:xfrm>
            <a:off x="609585" y="2689106"/>
            <a:ext cx="4206075" cy="940991"/>
          </a:xfrm>
          <a:prstGeom prst="rect">
            <a:avLst/>
          </a:prstGeom>
          <a:noFill/>
          <a:ln/>
        </p:spPr>
        <p:txBody>
          <a:bodyPr wrap="none" lIns="0" tIns="0" rIns="0" bIns="0" rtlCol="0" anchor="t"/>
          <a:lstStyle/>
          <a:p>
            <a:pPr algn="l" indent="0" marL="0">
              <a:lnSpc>
                <a:spcPct val="79000"/>
              </a:lnSpc>
              <a:buNone/>
            </a:pPr>
            <a:r>
              <a:rPr lang="en-US" sz="7800" b="1" spc="-156" kern="100" dirty="0">
                <a:solidFill>
                  <a:srgbClr val="F0609E"/>
                </a:solidFill>
                <a:latin typeface="Gantari Bold" pitchFamily="34" charset="0"/>
                <a:ea typeface="Gantari Bold" pitchFamily="34" charset="-122"/>
                <a:cs typeface="Gantari Bold" pitchFamily="34" charset="0"/>
              </a:rPr>
              <a:t>46.63%</a:t>
            </a:r>
            <a:endParaRPr lang="en-US" sz="7800" dirty="0"/>
          </a:p>
        </p:txBody>
      </p:sp>
      <p:sp>
        <p:nvSpPr>
          <p:cNvPr id="5" name="Text 3"/>
          <p:cNvSpPr/>
          <p:nvPr/>
        </p:nvSpPr>
        <p:spPr>
          <a:xfrm>
            <a:off x="609585" y="3814862"/>
            <a:ext cx="4206075" cy="360660"/>
          </a:xfrm>
          <a:prstGeom prst="rect">
            <a:avLst/>
          </a:prstGeom>
          <a:noFill/>
          <a:ln/>
        </p:spPr>
        <p:txBody>
          <a:bodyPr wrap="none" lIns="0" tIns="0" rIns="0" bIns="0" rtlCol="0" anchor="t"/>
          <a:lstStyle/>
          <a:p>
            <a:pPr algn="l" indent="0" marL="0">
              <a:lnSpc>
                <a:spcPct val="118000"/>
              </a:lnSpc>
              <a:buNone/>
            </a:pPr>
            <a:r>
              <a:rPr lang="en-US" sz="2000" dirty="0">
                <a:solidFill>
                  <a:srgbClr val="F7F2E8"/>
                </a:solidFill>
                <a:latin typeface="Mozilla Text" pitchFamily="34" charset="0"/>
                <a:ea typeface="Mozilla Text" pitchFamily="34" charset="-122"/>
                <a:cs typeface="Mozilla Text" pitchFamily="34" charset="0"/>
              </a:rPr>
              <a:t>of Q1 2026 tests</a:t>
            </a:r>
            <a:endParaRPr lang="en-US" sz="2000" dirty="0"/>
          </a:p>
        </p:txBody>
      </p:sp>
      <p:sp>
        <p:nvSpPr>
          <p:cNvPr id="6" name="Text 4"/>
          <p:cNvSpPr/>
          <p:nvPr/>
        </p:nvSpPr>
        <p:spPr>
          <a:xfrm>
            <a:off x="609585" y="4302522"/>
            <a:ext cx="4206075" cy="1046460"/>
          </a:xfrm>
          <a:prstGeom prst="rect">
            <a:avLst/>
          </a:prstGeom>
          <a:noFill/>
          <a:ln/>
        </p:spPr>
        <p:txBody>
          <a:bodyPr wrap="square" lIns="0" tIns="0" rIns="0" bIns="0" rtlCol="0" anchor="t">
            <a:normAutofit/>
          </a:bodyPr>
          <a:lstStyle/>
          <a:p>
            <a:pPr algn="l" indent="0" marL="0">
              <a:lnSpc>
                <a:spcPct val="118000"/>
              </a:lnSpc>
              <a:spcAft>
                <a:spcPts val="950"/>
              </a:spcAft>
              <a:buNone/>
            </a:pPr>
            <a:r>
              <a:rPr lang="en-US" sz="1700" b="1" dirty="0">
                <a:solidFill>
                  <a:srgbClr val="F7F2E8"/>
                </a:solidFill>
                <a:latin typeface="Mozilla Text Bold" pitchFamily="34" charset="0"/>
                <a:ea typeface="Mozilla Text Bold" pitchFamily="34" charset="-122"/>
                <a:cs typeface="Mozilla Text Bold" pitchFamily="34" charset="0"/>
              </a:rPr>
              <a:t>15,784</a:t>
            </a:r>
            <a:pPr algn="l" indent="0" marL="0">
              <a:lnSpc>
                <a:spcPct val="118000"/>
              </a:lnSpc>
              <a:spcAft>
                <a:spcPts val="950"/>
              </a:spcAft>
              <a:buNone/>
            </a:pPr>
            <a:r>
              <a:rPr lang="en-US" sz="1700" dirty="0">
                <a:solidFill>
                  <a:srgbClr val="F7F2E8"/>
                </a:solidFill>
                <a:latin typeface="Mozilla Text" pitchFamily="34" charset="0"/>
                <a:ea typeface="Mozilla Text" pitchFamily="34" charset="-122"/>
                <a:cs typeface="Mozilla Text" pitchFamily="34" charset="0"/>
              </a:rPr>
              <a:t> campaign-waiver bookings across </a:t>
            </a:r>
            <a:pPr algn="l" indent="0" marL="0">
              <a:lnSpc>
                <a:spcPct val="118000"/>
              </a:lnSpc>
              <a:spcAft>
                <a:spcPts val="950"/>
              </a:spcAft>
              <a:buNone/>
            </a:pPr>
            <a:r>
              <a:rPr lang="en-US" sz="1700" b="1" dirty="0">
                <a:solidFill>
                  <a:srgbClr val="F7F2E8"/>
                </a:solidFill>
                <a:latin typeface="Mozilla Text Bold" pitchFamily="34" charset="0"/>
                <a:ea typeface="Mozilla Text Bold" pitchFamily="34" charset="-122"/>
                <a:cs typeface="Mozilla Text Bold" pitchFamily="34" charset="0"/>
              </a:rPr>
              <a:t>33,849</a:t>
            </a:r>
            <a:pPr algn="l" indent="0" marL="0">
              <a:lnSpc>
                <a:spcPct val="118000"/>
              </a:lnSpc>
              <a:spcAft>
                <a:spcPts val="950"/>
              </a:spcAft>
              <a:buNone/>
            </a:pPr>
            <a:r>
              <a:rPr lang="en-US" sz="1700" dirty="0">
                <a:solidFill>
                  <a:srgbClr val="F7F2E8"/>
                </a:solidFill>
                <a:latin typeface="Mozilla Text" pitchFamily="34" charset="0"/>
                <a:ea typeface="Mozilla Text" pitchFamily="34" charset="-122"/>
                <a:cs typeface="Mozilla Text" pitchFamily="34" charset="0"/>
              </a:rPr>
              <a:t> tests.</a:t>
            </a:r>
            <a:endParaRPr lang="en-US" sz="1700" dirty="0"/>
          </a:p>
          <a:p>
            <a:pPr algn="l" indent="0" marL="0">
              <a:lnSpc>
                <a:spcPct val="118000"/>
              </a:lnSpc>
              <a:buNone/>
            </a:pPr>
            <a:r>
              <a:rPr lang="en-US" sz="1700" b="1" dirty="0">
                <a:solidFill>
                  <a:srgbClr val="F7F2E8"/>
                </a:solidFill>
                <a:latin typeface="Mozilla Text Bold" pitchFamily="34" charset="0"/>
                <a:ea typeface="Mozilla Text Bold" pitchFamily="34" charset="-122"/>
                <a:cs typeface="Mozilla Text Bold" pitchFamily="34" charset="0"/>
              </a:rPr>
              <a:t>18,065</a:t>
            </a:r>
            <a:pPr algn="l" indent="0" marL="0">
              <a:lnSpc>
                <a:spcPct val="118000"/>
              </a:lnSpc>
              <a:buNone/>
            </a:pPr>
            <a:r>
              <a:rPr lang="en-US" sz="1700" dirty="0">
                <a:solidFill>
                  <a:srgbClr val="F7F2E8"/>
                </a:solidFill>
                <a:latin typeface="Mozilla Text" pitchFamily="34" charset="0"/>
                <a:ea typeface="Mozilla Text" pitchFamily="34" charset="-122"/>
                <a:cs typeface="Mozilla Text" pitchFamily="34" charset="0"/>
              </a:rPr>
              <a:t> other bookings.</a:t>
            </a:r>
            <a:endParaRPr lang="en-US" sz="1700" dirty="0"/>
          </a:p>
        </p:txBody>
      </p:sp>
      <p:pic>
        <p:nvPicPr>
          <p:cNvPr id="7" name="Image 0" descr="preencoded.png">    </p:cNvPr>
          <p:cNvPicPr>
            <a:picLocks noChangeAspect="1"/>
          </p:cNvPicPr>
          <p:nvPr/>
        </p:nvPicPr>
        <p:blipFill>
          <a:blip r:embed="rId1"/>
          <a:stretch>
            <a:fillRect/>
          </a:stretch>
        </p:blipFill>
        <p:spPr>
          <a:xfrm>
            <a:off x="5272749" y="2692896"/>
            <a:ext cx="5333867" cy="2540000"/>
          </a:xfrm>
          <a:prstGeom prst="rect">
            <a:avLst/>
          </a:prstGeom>
        </p:spPr>
      </p:pic>
      <p:sp>
        <p:nvSpPr>
          <p:cNvPr id="8" name="Text 5"/>
          <p:cNvSpPr/>
          <p:nvPr/>
        </p:nvSpPr>
        <p:spPr>
          <a:xfrm>
            <a:off x="609585" y="5999857"/>
            <a:ext cx="11582110" cy="248543"/>
          </a:xfrm>
          <a:prstGeom prst="rect">
            <a:avLst/>
          </a:prstGeom>
          <a:noFill/>
          <a:ln/>
        </p:spPr>
        <p:txBody>
          <a:bodyPr wrap="none" lIns="0" tIns="0" rIns="0" bIns="0" rtlCol="0" anchor="t"/>
          <a:lstStyle/>
          <a:p>
            <a:pPr algn="l" indent="0" marL="0">
              <a:lnSpc>
                <a:spcPct val="113000"/>
              </a:lnSpc>
              <a:buNone/>
            </a:pPr>
            <a:r>
              <a:rPr lang="en-US" sz="1450" spc="7" kern="100" dirty="0">
                <a:solidFill>
                  <a:srgbClr val="C2C8D8"/>
                </a:solidFill>
                <a:latin typeface="Mozilla Text" pitchFamily="34" charset="0"/>
                <a:ea typeface="Mozilla Text" pitchFamily="34" charset="-122"/>
                <a:cs typeface="Mozilla Text" pitchFamily="34" charset="0"/>
              </a:rPr>
              <a:t>Campaign-linked activity is material enough to warrant deeper conversion and retention analysis.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6268"/>
            <a:ext cx="11582110" cy="220960"/>
          </a:xfrm>
          <a:prstGeom prst="rect">
            <a:avLst/>
          </a:prstGeom>
          <a:noFill/>
          <a:ln/>
        </p:spPr>
        <p:txBody>
          <a:bodyPr wrap="none" lIns="0" tIns="0" rIns="0" bIns="0" rtlCol="0" anchor="t"/>
          <a:lstStyle/>
          <a:p>
            <a:pPr algn="l" indent="0" marL="0">
              <a:lnSpc>
                <a:spcPct val="100000"/>
              </a:lnSpc>
              <a:buNone/>
            </a:pPr>
            <a:r>
              <a:rPr lang="en-US" sz="1450" spc="29" kern="100" dirty="0">
                <a:solidFill>
                  <a:srgbClr val="F0609E"/>
                </a:solidFill>
                <a:latin typeface="Mozilla Text SemiBold" pitchFamily="34" charset="0"/>
                <a:ea typeface="Mozilla Text SemiBold" pitchFamily="34" charset="-122"/>
                <a:cs typeface="Mozilla Text SemiBold" pitchFamily="34" charset="0"/>
              </a:rPr>
              <a:t>REVENUE SIGNAL</a:t>
            </a:r>
            <a:endParaRPr lang="en-US" sz="1450" dirty="0"/>
          </a:p>
        </p:txBody>
      </p:sp>
      <p:sp>
        <p:nvSpPr>
          <p:cNvPr id="3" name="Text 1"/>
          <p:cNvSpPr/>
          <p:nvPr/>
        </p:nvSpPr>
        <p:spPr>
          <a:xfrm>
            <a:off x="609585" y="944834"/>
            <a:ext cx="10972526" cy="987425"/>
          </a:xfrm>
          <a:prstGeom prst="rect">
            <a:avLst/>
          </a:prstGeom>
          <a:noFill/>
          <a:ln/>
        </p:spPr>
        <p:txBody>
          <a:bodyPr wrap="square" lIns="0" tIns="0" rIns="0" bIns="0" rtlCol="0" anchor="t">
            <a:normAutofit/>
          </a:bodyPr>
          <a:lstStyle/>
          <a:p>
            <a:pPr algn="l" indent="0" marL="0">
              <a:lnSpc>
                <a:spcPct val="90000"/>
              </a:lnSpc>
              <a:buNone/>
            </a:pPr>
            <a:r>
              <a:rPr lang="en-US" sz="3600" b="1" spc="-18" kern="100" dirty="0">
                <a:solidFill>
                  <a:srgbClr val="F7F2E8"/>
                </a:solidFill>
                <a:latin typeface="Gantari Bold" pitchFamily="34" charset="0"/>
                <a:ea typeface="Gantari Bold" pitchFamily="34" charset="-122"/>
                <a:cs typeface="Gantari Bold" pitchFamily="34" charset="0"/>
              </a:rPr>
              <a:t>Campaign-linked revenue is meaningful, but not proof of lift</a:t>
            </a:r>
            <a:endParaRPr lang="en-US" sz="3600" dirty="0"/>
          </a:p>
        </p:txBody>
      </p:sp>
      <p:pic>
        <p:nvPicPr>
          <p:cNvPr id="4" name="Image 0" descr="preencoded.png">    </p:cNvPr>
          <p:cNvPicPr>
            <a:picLocks noChangeAspect="1"/>
          </p:cNvPicPr>
          <p:nvPr/>
        </p:nvPicPr>
        <p:blipFill>
          <a:blip r:embed="rId1"/>
          <a:stretch>
            <a:fillRect/>
          </a:stretch>
        </p:blipFill>
        <p:spPr>
          <a:xfrm>
            <a:off x="609585" y="2615505"/>
            <a:ext cx="5714857" cy="1905000"/>
          </a:xfrm>
          <a:prstGeom prst="rect">
            <a:avLst/>
          </a:prstGeom>
        </p:spPr>
      </p:pic>
      <p:sp>
        <p:nvSpPr>
          <p:cNvPr id="5" name="Text 2"/>
          <p:cNvSpPr/>
          <p:nvPr/>
        </p:nvSpPr>
        <p:spPr>
          <a:xfrm>
            <a:off x="609585" y="4606230"/>
            <a:ext cx="6400640" cy="248543"/>
          </a:xfrm>
          <a:prstGeom prst="rect">
            <a:avLst/>
          </a:prstGeom>
          <a:noFill/>
          <a:ln/>
        </p:spPr>
        <p:txBody>
          <a:bodyPr wrap="none" lIns="0" tIns="0" rIns="0" bIns="0" rtlCol="0" anchor="t"/>
          <a:lstStyle/>
          <a:p>
            <a:pPr algn="l" indent="0" marL="0">
              <a:lnSpc>
                <a:spcPct val="113000"/>
              </a:lnSpc>
              <a:buNone/>
            </a:pPr>
            <a:r>
              <a:rPr lang="en-US" sz="1450" spc="7" kern="100" dirty="0">
                <a:solidFill>
                  <a:srgbClr val="C2C8D8"/>
                </a:solidFill>
                <a:latin typeface="Mozilla Text" pitchFamily="34" charset="0"/>
                <a:ea typeface="Mozilla Text" pitchFamily="34" charset="-122"/>
                <a:cs typeface="Mozilla Text" pitchFamily="34" charset="0"/>
              </a:rPr>
              <a:t>Campaign-linked revenue is 14.95% of total Q1 test revenue.</a:t>
            </a:r>
            <a:endParaRPr lang="en-US" sz="1450" dirty="0"/>
          </a:p>
        </p:txBody>
      </p:sp>
      <p:sp>
        <p:nvSpPr>
          <p:cNvPr id="6" name="Shape 3"/>
          <p:cNvSpPr/>
          <p:nvPr/>
        </p:nvSpPr>
        <p:spPr>
          <a:xfrm>
            <a:off x="7314918" y="2119610"/>
            <a:ext cx="4267192" cy="3231059"/>
          </a:xfrm>
          <a:prstGeom prst="roundRect">
            <a:avLst>
              <a:gd name="adj" fmla="val 6014"/>
            </a:avLst>
          </a:prstGeom>
          <a:solidFill>
            <a:srgbClr val="16295A"/>
          </a:solidFill>
          <a:ln/>
        </p:spPr>
      </p:sp>
      <p:sp>
        <p:nvSpPr>
          <p:cNvPr id="7" name="Text 4"/>
          <p:cNvSpPr/>
          <p:nvPr/>
        </p:nvSpPr>
        <p:spPr>
          <a:xfrm>
            <a:off x="7543512" y="2365673"/>
            <a:ext cx="3810004" cy="603250"/>
          </a:xfrm>
          <a:prstGeom prst="rect">
            <a:avLst/>
          </a:prstGeom>
          <a:noFill/>
          <a:ln/>
        </p:spPr>
        <p:txBody>
          <a:bodyPr wrap="none" lIns="0" tIns="0" rIns="0" bIns="0" rtlCol="0" anchor="t"/>
          <a:lstStyle/>
          <a:p>
            <a:pPr algn="l" indent="0" marL="0">
              <a:lnSpc>
                <a:spcPct val="79000"/>
              </a:lnSpc>
              <a:buNone/>
            </a:pPr>
            <a:r>
              <a:rPr lang="en-US" sz="5000" b="1" spc="-100" kern="100" dirty="0">
                <a:solidFill>
                  <a:srgbClr val="F0609E"/>
                </a:solidFill>
                <a:latin typeface="Gantari Bold" pitchFamily="34" charset="0"/>
                <a:ea typeface="Gantari Bold" pitchFamily="34" charset="-122"/>
                <a:cs typeface="Gantari Bold" pitchFamily="34" charset="0"/>
              </a:rPr>
              <a:t>₹10.82M</a:t>
            </a:r>
            <a:endParaRPr lang="en-US" sz="5000" dirty="0"/>
          </a:p>
        </p:txBody>
      </p:sp>
      <p:sp>
        <p:nvSpPr>
          <p:cNvPr id="8" name="Text 5"/>
          <p:cNvSpPr/>
          <p:nvPr/>
        </p:nvSpPr>
        <p:spPr>
          <a:xfrm>
            <a:off x="7543512" y="3030835"/>
            <a:ext cx="381000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campaign-linked revenue</a:t>
            </a:r>
            <a:endParaRPr lang="en-US" sz="2000" dirty="0"/>
          </a:p>
        </p:txBody>
      </p:sp>
      <p:sp>
        <p:nvSpPr>
          <p:cNvPr id="9" name="Text 6"/>
          <p:cNvSpPr/>
          <p:nvPr/>
        </p:nvSpPr>
        <p:spPr>
          <a:xfrm>
            <a:off x="7543512" y="3513435"/>
            <a:ext cx="3810004" cy="1659434"/>
          </a:xfrm>
          <a:prstGeom prst="rect">
            <a:avLst/>
          </a:prstGeom>
          <a:noFill/>
          <a:ln/>
        </p:spPr>
        <p:txBody>
          <a:bodyPr wrap="square" lIns="0" tIns="0" rIns="0" bIns="0" rtlCol="0" anchor="t">
            <a:normAutofit/>
          </a:bodyPr>
          <a:lstStyle/>
          <a:p>
            <a:pPr algn="l" indent="0" marL="0">
              <a:lnSpc>
                <a:spcPct val="118000"/>
              </a:lnSpc>
              <a:spcAft>
                <a:spcPts val="950"/>
              </a:spcAft>
              <a:buNone/>
            </a:pPr>
            <a:r>
              <a:rPr lang="en-US" sz="1700" b="1" dirty="0">
                <a:solidFill>
                  <a:srgbClr val="F7F2E8"/>
                </a:solidFill>
                <a:latin typeface="Mozilla Text Bold" pitchFamily="34" charset="0"/>
                <a:ea typeface="Mozilla Text Bold" pitchFamily="34" charset="-122"/>
                <a:cs typeface="Mozilla Text Bold" pitchFamily="34" charset="0"/>
              </a:rPr>
              <a:t>₹3.48M</a:t>
            </a:r>
            <a:pPr algn="l" indent="0" marL="0">
              <a:lnSpc>
                <a:spcPct val="118000"/>
              </a:lnSpc>
              <a:spcAft>
                <a:spcPts val="950"/>
              </a:spcAft>
              <a:buNone/>
            </a:pPr>
            <a:r>
              <a:rPr lang="en-US" sz="1700" dirty="0">
                <a:solidFill>
                  <a:srgbClr val="F7F2E8"/>
                </a:solidFill>
                <a:latin typeface="Mozilla Text" pitchFamily="34" charset="0"/>
                <a:ea typeface="Mozilla Text" pitchFamily="34" charset="-122"/>
                <a:cs typeface="Mozilla Text" pitchFamily="34" charset="0"/>
              </a:rPr>
              <a:t> came from 1,767 new patients using the campaign waiver, across 5,045 tests.</a:t>
            </a:r>
            <a:endParaRPr lang="en-US" sz="1700" dirty="0"/>
          </a:p>
          <a:p>
            <a:pPr algn="l" indent="0" marL="0">
              <a:lnSpc>
                <a:spcPct val="118000"/>
              </a:lnSpc>
              <a:buNone/>
            </a:pPr>
            <a:r>
              <a:rPr lang="en-US" sz="1700" b="1" dirty="0">
                <a:solidFill>
                  <a:srgbClr val="F7F2E8"/>
                </a:solidFill>
                <a:latin typeface="Mozilla Text Bold" pitchFamily="34" charset="0"/>
                <a:ea typeface="Mozilla Text Bold" pitchFamily="34" charset="-122"/>
                <a:cs typeface="Mozilla Text Bold" pitchFamily="34" charset="0"/>
              </a:rPr>
              <a:t>32.15%</a:t>
            </a:r>
            <a:pPr algn="l" indent="0" marL="0">
              <a:lnSpc>
                <a:spcPct val="118000"/>
              </a:lnSpc>
              <a:buNone/>
            </a:pPr>
            <a:r>
              <a:rPr lang="en-US" sz="1700" dirty="0">
                <a:solidFill>
                  <a:srgbClr val="F7F2E8"/>
                </a:solidFill>
                <a:latin typeface="Mozilla Text" pitchFamily="34" charset="0"/>
                <a:ea typeface="Mozilla Text" pitchFamily="34" charset="-122"/>
                <a:cs typeface="Mozilla Text" pitchFamily="34" charset="0"/>
              </a:rPr>
              <a:t> of campaign-linked revenue came from these new patients.</a:t>
            </a:r>
            <a:endParaRPr lang="en-US" sz="1700" dirty="0"/>
          </a:p>
        </p:txBody>
      </p:sp>
      <p:sp>
        <p:nvSpPr>
          <p:cNvPr id="10" name="Shape 7"/>
          <p:cNvSpPr/>
          <p:nvPr/>
        </p:nvSpPr>
        <p:spPr>
          <a:xfrm>
            <a:off x="609585" y="5544344"/>
            <a:ext cx="10972526" cy="1117600"/>
          </a:xfrm>
          <a:prstGeom prst="roundRect">
            <a:avLst>
              <a:gd name="adj" fmla="val 17386"/>
            </a:avLst>
          </a:prstGeom>
          <a:solidFill>
            <a:srgbClr val="F4C531"/>
          </a:solidFill>
          <a:ln/>
        </p:spPr>
      </p:sp>
      <p:sp>
        <p:nvSpPr>
          <p:cNvPr id="11" name="Text 8"/>
          <p:cNvSpPr/>
          <p:nvPr/>
        </p:nvSpPr>
        <p:spPr>
          <a:xfrm>
            <a:off x="838179" y="5776119"/>
            <a:ext cx="10515337" cy="660400"/>
          </a:xfrm>
          <a:prstGeom prst="rect">
            <a:avLst/>
          </a:prstGeom>
          <a:noFill/>
          <a:ln/>
        </p:spPr>
        <p:txBody>
          <a:bodyPr wrap="square" lIns="0" tIns="0" rIns="0" bIns="0" rtlCol="0" anchor="t">
            <a:normAutofit/>
          </a:bodyPr>
          <a:lstStyle/>
          <a:p>
            <a:pPr algn="l" indent="0" marL="0">
              <a:lnSpc>
                <a:spcPct val="108000"/>
              </a:lnSpc>
              <a:buNone/>
            </a:pPr>
            <a:r>
              <a:rPr lang="en-US" sz="2000" dirty="0">
                <a:solidFill>
                  <a:srgbClr val="000000"/>
                </a:solidFill>
                <a:latin typeface="Mozilla Text Medium" pitchFamily="34" charset="0"/>
                <a:ea typeface="Mozilla Text Medium" pitchFamily="34" charset="-122"/>
                <a:cs typeface="Mozilla Text Medium" pitchFamily="34" charset="0"/>
              </a:rPr>
              <a:t>Association is visible; incremental revenue, profit, and campaign ROI remain unproven.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6268"/>
            <a:ext cx="11582110" cy="220960"/>
          </a:xfrm>
          <a:prstGeom prst="rect">
            <a:avLst/>
          </a:prstGeom>
          <a:noFill/>
          <a:ln/>
        </p:spPr>
        <p:txBody>
          <a:bodyPr wrap="none" lIns="0" tIns="0" rIns="0" bIns="0" rtlCol="0" anchor="t"/>
          <a:lstStyle/>
          <a:p>
            <a:pPr algn="l" indent="0" marL="0">
              <a:lnSpc>
                <a:spcPct val="100000"/>
              </a:lnSpc>
              <a:buNone/>
            </a:pPr>
            <a:r>
              <a:rPr lang="en-US" sz="1450" spc="29" kern="100" dirty="0">
                <a:solidFill>
                  <a:srgbClr val="F0609E"/>
                </a:solidFill>
                <a:latin typeface="Mozilla Text SemiBold" pitchFamily="34" charset="0"/>
                <a:ea typeface="Mozilla Text SemiBold" pitchFamily="34" charset="-122"/>
                <a:cs typeface="Mozilla Text SemiBold" pitchFamily="34" charset="0"/>
              </a:rPr>
              <a:t>DECISION PATH</a:t>
            </a:r>
            <a:endParaRPr lang="en-US" sz="1450" dirty="0"/>
          </a:p>
        </p:txBody>
      </p:sp>
      <p:sp>
        <p:nvSpPr>
          <p:cNvPr id="3" name="Text 1"/>
          <p:cNvSpPr/>
          <p:nvPr/>
        </p:nvSpPr>
        <p:spPr>
          <a:xfrm>
            <a:off x="609585" y="944834"/>
            <a:ext cx="10972526" cy="987425"/>
          </a:xfrm>
          <a:prstGeom prst="rect">
            <a:avLst/>
          </a:prstGeom>
          <a:noFill/>
          <a:ln/>
        </p:spPr>
        <p:txBody>
          <a:bodyPr wrap="square" lIns="0" tIns="0" rIns="0" bIns="0" rtlCol="0" anchor="t">
            <a:normAutofit/>
          </a:bodyPr>
          <a:lstStyle/>
          <a:p>
            <a:pPr algn="l" indent="0" marL="0">
              <a:lnSpc>
                <a:spcPct val="90000"/>
              </a:lnSpc>
              <a:buNone/>
            </a:pPr>
            <a:r>
              <a:rPr lang="en-US" sz="3600" b="1" spc="-18" kern="100" dirty="0">
                <a:solidFill>
                  <a:srgbClr val="F7F2E8"/>
                </a:solidFill>
                <a:latin typeface="Gantari Bold" pitchFamily="34" charset="0"/>
                <a:ea typeface="Gantari Bold" pitchFamily="34" charset="-122"/>
                <a:cs typeface="Gantari Bold" pitchFamily="34" charset="0"/>
              </a:rPr>
              <a:t>Act on the signal — measure incrementality before scaling spend</a:t>
            </a:r>
            <a:endParaRPr lang="en-US" sz="3600" dirty="0"/>
          </a:p>
        </p:txBody>
      </p:sp>
      <p:sp>
        <p:nvSpPr>
          <p:cNvPr id="4" name="Shape 2"/>
          <p:cNvSpPr/>
          <p:nvPr/>
        </p:nvSpPr>
        <p:spPr>
          <a:xfrm>
            <a:off x="609585" y="2119610"/>
            <a:ext cx="507987" cy="508000"/>
          </a:xfrm>
          <a:prstGeom prst="ellipse">
            <a:avLst/>
          </a:prstGeom>
          <a:solidFill>
            <a:srgbClr val="F0609E"/>
          </a:solidFill>
          <a:ln/>
        </p:spPr>
      </p:sp>
      <p:sp>
        <p:nvSpPr>
          <p:cNvPr id="5" name="Text 3"/>
          <p:cNvSpPr/>
          <p:nvPr/>
        </p:nvSpPr>
        <p:spPr>
          <a:xfrm>
            <a:off x="744916" y="2259310"/>
            <a:ext cx="846910" cy="228600"/>
          </a:xfrm>
          <a:prstGeom prst="rect">
            <a:avLst/>
          </a:prstGeom>
          <a:noFill/>
          <a:ln/>
        </p:spPr>
        <p:txBody>
          <a:bodyPr wrap="none" lIns="0" tIns="0" rIns="0" bIns="0" rtlCol="0" anchor="t"/>
          <a:lstStyle/>
          <a:p>
            <a:pPr algn="l" indent="0" marL="0">
              <a:lnSpc>
                <a:spcPct val="83000"/>
              </a:lnSpc>
              <a:buNone/>
            </a:pPr>
            <a:r>
              <a:rPr lang="en-US" sz="1800" b="1" dirty="0">
                <a:solidFill>
                  <a:srgbClr val="0E1F45"/>
                </a:solidFill>
                <a:latin typeface="Gantari Bold" pitchFamily="34" charset="0"/>
                <a:ea typeface="Gantari Bold" pitchFamily="34" charset="-122"/>
                <a:cs typeface="Gantari Bold" pitchFamily="34" charset="0"/>
              </a:rPr>
              <a:t>01</a:t>
            </a:r>
            <a:endParaRPr lang="en-US" sz="1800" dirty="0"/>
          </a:p>
        </p:txBody>
      </p:sp>
      <p:sp>
        <p:nvSpPr>
          <p:cNvPr id="6" name="Text 4"/>
          <p:cNvSpPr/>
          <p:nvPr/>
        </p:nvSpPr>
        <p:spPr>
          <a:xfrm>
            <a:off x="609585" y="2760266"/>
            <a:ext cx="345431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Validate the funnel</a:t>
            </a:r>
            <a:endParaRPr lang="en-US" sz="2000" dirty="0"/>
          </a:p>
        </p:txBody>
      </p:sp>
      <p:sp>
        <p:nvSpPr>
          <p:cNvPr id="7" name="Text 5"/>
          <p:cNvSpPr/>
          <p:nvPr/>
        </p:nvSpPr>
        <p:spPr>
          <a:xfrm>
            <a:off x="609585" y="3242866"/>
            <a:ext cx="3454314" cy="522883"/>
          </a:xfrm>
          <a:prstGeom prst="rect">
            <a:avLst/>
          </a:prstGeom>
          <a:noFill/>
          <a:ln/>
        </p:spPr>
        <p:txBody>
          <a:bodyPr wrap="square" lIns="0" tIns="0" rIns="0" bIns="0" rtlCol="0" anchor="t">
            <a:normAutofit/>
          </a:bodyPr>
          <a:lstStyle/>
          <a:p>
            <a:pPr algn="l" indent="0" marL="0">
              <a:lnSpc>
                <a:spcPct val="118000"/>
              </a:lnSpc>
              <a:buNone/>
            </a:pPr>
            <a:r>
              <a:rPr lang="en-US" sz="1450" dirty="0">
                <a:solidFill>
                  <a:srgbClr val="F7F2E8"/>
                </a:solidFill>
                <a:latin typeface="Mozilla Text" pitchFamily="34" charset="0"/>
                <a:ea typeface="Mozilla Text" pitchFamily="34" charset="-122"/>
                <a:cs typeface="Mozilla Text" pitchFamily="34" charset="0"/>
              </a:rPr>
              <a:t>Waiver booking → new patient → tests → revenue.</a:t>
            </a:r>
            <a:endParaRPr lang="en-US" sz="1450" dirty="0"/>
          </a:p>
        </p:txBody>
      </p:sp>
      <p:sp>
        <p:nvSpPr>
          <p:cNvPr id="8" name="Shape 6"/>
          <p:cNvSpPr/>
          <p:nvPr/>
        </p:nvSpPr>
        <p:spPr>
          <a:xfrm>
            <a:off x="4368691" y="2119610"/>
            <a:ext cx="507987" cy="508000"/>
          </a:xfrm>
          <a:prstGeom prst="ellipse">
            <a:avLst/>
          </a:prstGeom>
          <a:solidFill>
            <a:srgbClr val="F0609E"/>
          </a:solidFill>
          <a:ln/>
        </p:spPr>
      </p:sp>
      <p:sp>
        <p:nvSpPr>
          <p:cNvPr id="9" name="Text 7"/>
          <p:cNvSpPr/>
          <p:nvPr/>
        </p:nvSpPr>
        <p:spPr>
          <a:xfrm>
            <a:off x="4490528" y="2259310"/>
            <a:ext cx="873897" cy="228600"/>
          </a:xfrm>
          <a:prstGeom prst="rect">
            <a:avLst/>
          </a:prstGeom>
          <a:noFill/>
          <a:ln/>
        </p:spPr>
        <p:txBody>
          <a:bodyPr wrap="none" lIns="0" tIns="0" rIns="0" bIns="0" rtlCol="0" anchor="t"/>
          <a:lstStyle/>
          <a:p>
            <a:pPr algn="l" indent="0" marL="0">
              <a:lnSpc>
                <a:spcPct val="83000"/>
              </a:lnSpc>
              <a:buNone/>
            </a:pPr>
            <a:r>
              <a:rPr lang="en-US" sz="1800" b="1" dirty="0">
                <a:solidFill>
                  <a:srgbClr val="0E1F45"/>
                </a:solidFill>
                <a:latin typeface="Gantari Bold" pitchFamily="34" charset="0"/>
                <a:ea typeface="Gantari Bold" pitchFamily="34" charset="-122"/>
                <a:cs typeface="Gantari Bold" pitchFamily="34" charset="0"/>
              </a:rPr>
              <a:t>02</a:t>
            </a:r>
            <a:endParaRPr lang="en-US" sz="1800" dirty="0"/>
          </a:p>
        </p:txBody>
      </p:sp>
      <p:sp>
        <p:nvSpPr>
          <p:cNvPr id="10" name="Text 8"/>
          <p:cNvSpPr/>
          <p:nvPr/>
        </p:nvSpPr>
        <p:spPr>
          <a:xfrm>
            <a:off x="4368691" y="2760266"/>
            <a:ext cx="345431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Test the counterfactual</a:t>
            </a:r>
            <a:endParaRPr lang="en-US" sz="2000" dirty="0"/>
          </a:p>
        </p:txBody>
      </p:sp>
      <p:sp>
        <p:nvSpPr>
          <p:cNvPr id="11" name="Text 9"/>
          <p:cNvSpPr/>
          <p:nvPr/>
        </p:nvSpPr>
        <p:spPr>
          <a:xfrm>
            <a:off x="4368691" y="3242866"/>
            <a:ext cx="3454314" cy="522883"/>
          </a:xfrm>
          <a:prstGeom prst="rect">
            <a:avLst/>
          </a:prstGeom>
          <a:noFill/>
          <a:ln/>
        </p:spPr>
        <p:txBody>
          <a:bodyPr wrap="square" lIns="0" tIns="0" rIns="0" bIns="0" rtlCol="0" anchor="t">
            <a:normAutofit/>
          </a:bodyPr>
          <a:lstStyle/>
          <a:p>
            <a:pPr algn="l" indent="0" marL="0">
              <a:lnSpc>
                <a:spcPct val="118000"/>
              </a:lnSpc>
              <a:buNone/>
            </a:pPr>
            <a:r>
              <a:rPr lang="en-US" sz="1450" dirty="0">
                <a:solidFill>
                  <a:srgbClr val="F7F2E8"/>
                </a:solidFill>
                <a:latin typeface="Mozilla Text" pitchFamily="34" charset="0"/>
                <a:ea typeface="Mozilla Text" pitchFamily="34" charset="-122"/>
                <a:cs typeface="Mozilla Text" pitchFamily="34" charset="0"/>
              </a:rPr>
              <a:t>Compare exposed patients with a matched or holdout group.</a:t>
            </a:r>
            <a:endParaRPr lang="en-US" sz="1450" dirty="0"/>
          </a:p>
        </p:txBody>
      </p:sp>
      <p:sp>
        <p:nvSpPr>
          <p:cNvPr id="12" name="Shape 10"/>
          <p:cNvSpPr/>
          <p:nvPr/>
        </p:nvSpPr>
        <p:spPr>
          <a:xfrm>
            <a:off x="8127797" y="2119610"/>
            <a:ext cx="507987" cy="508000"/>
          </a:xfrm>
          <a:prstGeom prst="ellipse">
            <a:avLst/>
          </a:prstGeom>
          <a:solidFill>
            <a:srgbClr val="FF8A3D"/>
          </a:solidFill>
          <a:ln/>
        </p:spPr>
      </p:sp>
      <p:sp>
        <p:nvSpPr>
          <p:cNvPr id="13" name="Text 11"/>
          <p:cNvSpPr/>
          <p:nvPr/>
        </p:nvSpPr>
        <p:spPr>
          <a:xfrm>
            <a:off x="8249634" y="2259310"/>
            <a:ext cx="873897" cy="228600"/>
          </a:xfrm>
          <a:prstGeom prst="rect">
            <a:avLst/>
          </a:prstGeom>
          <a:noFill/>
          <a:ln/>
        </p:spPr>
        <p:txBody>
          <a:bodyPr wrap="none" lIns="0" tIns="0" rIns="0" bIns="0" rtlCol="0" anchor="t"/>
          <a:lstStyle/>
          <a:p>
            <a:pPr algn="l" indent="0" marL="0">
              <a:lnSpc>
                <a:spcPct val="83000"/>
              </a:lnSpc>
              <a:buNone/>
            </a:pPr>
            <a:r>
              <a:rPr lang="en-US" sz="1800" b="1" dirty="0">
                <a:solidFill>
                  <a:srgbClr val="0E1F45"/>
                </a:solidFill>
                <a:latin typeface="Gantari Bold" pitchFamily="34" charset="0"/>
                <a:ea typeface="Gantari Bold" pitchFamily="34" charset="-122"/>
                <a:cs typeface="Gantari Bold" pitchFamily="34" charset="0"/>
              </a:rPr>
              <a:t>03</a:t>
            </a:r>
            <a:endParaRPr lang="en-US" sz="1800" dirty="0"/>
          </a:p>
        </p:txBody>
      </p:sp>
      <p:sp>
        <p:nvSpPr>
          <p:cNvPr id="14" name="Text 12"/>
          <p:cNvSpPr/>
          <p:nvPr/>
        </p:nvSpPr>
        <p:spPr>
          <a:xfrm>
            <a:off x="8127797" y="2760266"/>
            <a:ext cx="3454314" cy="330200"/>
          </a:xfrm>
          <a:prstGeom prst="rect">
            <a:avLst/>
          </a:prstGeom>
          <a:noFill/>
          <a:ln/>
        </p:spPr>
        <p:txBody>
          <a:bodyPr wrap="none" lIns="0" tIns="0" rIns="0" bIns="0" rtlCol="0" anchor="t"/>
          <a:lstStyle/>
          <a:p>
            <a:pPr algn="l" indent="0" marL="0">
              <a:lnSpc>
                <a:spcPct val="108000"/>
              </a:lnSpc>
              <a:buNone/>
            </a:pPr>
            <a:r>
              <a:rPr lang="en-US" sz="2000" dirty="0">
                <a:solidFill>
                  <a:srgbClr val="F7F2E8"/>
                </a:solidFill>
                <a:latin typeface="Mozilla Text Medium" pitchFamily="34" charset="0"/>
                <a:ea typeface="Mozilla Text Medium" pitchFamily="34" charset="-122"/>
                <a:cs typeface="Mozilla Text Medium" pitchFamily="34" charset="0"/>
              </a:rPr>
              <a:t>Measure value</a:t>
            </a:r>
            <a:endParaRPr lang="en-US" sz="2000" dirty="0"/>
          </a:p>
        </p:txBody>
      </p:sp>
      <p:sp>
        <p:nvSpPr>
          <p:cNvPr id="15" name="Text 13"/>
          <p:cNvSpPr/>
          <p:nvPr/>
        </p:nvSpPr>
        <p:spPr>
          <a:xfrm>
            <a:off x="8127797" y="3242866"/>
            <a:ext cx="3454314" cy="522883"/>
          </a:xfrm>
          <a:prstGeom prst="rect">
            <a:avLst/>
          </a:prstGeom>
          <a:noFill/>
          <a:ln/>
        </p:spPr>
        <p:txBody>
          <a:bodyPr wrap="square" lIns="0" tIns="0" rIns="0" bIns="0" rtlCol="0" anchor="t">
            <a:normAutofit/>
          </a:bodyPr>
          <a:lstStyle/>
          <a:p>
            <a:pPr algn="l" indent="0" marL="0">
              <a:lnSpc>
                <a:spcPct val="118000"/>
              </a:lnSpc>
              <a:buNone/>
            </a:pPr>
            <a:r>
              <a:rPr lang="en-US" sz="1450" dirty="0">
                <a:solidFill>
                  <a:srgbClr val="F7F2E8"/>
                </a:solidFill>
                <a:latin typeface="Mozilla Text" pitchFamily="34" charset="0"/>
                <a:ea typeface="Mozilla Text" pitchFamily="34" charset="-122"/>
                <a:cs typeface="Mozilla Text" pitchFamily="34" charset="0"/>
              </a:rPr>
              <a:t>Add campaign cost, gross margin, and retention.</a:t>
            </a:r>
            <a:endParaRPr lang="en-US" sz="1450" dirty="0"/>
          </a:p>
        </p:txBody>
      </p:sp>
      <p:sp>
        <p:nvSpPr>
          <p:cNvPr id="16" name="Shape 14"/>
          <p:cNvSpPr/>
          <p:nvPr/>
        </p:nvSpPr>
        <p:spPr>
          <a:xfrm>
            <a:off x="609585" y="3994348"/>
            <a:ext cx="10972526" cy="1117600"/>
          </a:xfrm>
          <a:prstGeom prst="roundRect">
            <a:avLst>
              <a:gd name="adj" fmla="val 17386"/>
            </a:avLst>
          </a:prstGeom>
          <a:solidFill>
            <a:srgbClr val="F4C531"/>
          </a:solidFill>
          <a:ln/>
        </p:spPr>
      </p:sp>
      <p:sp>
        <p:nvSpPr>
          <p:cNvPr id="17" name="Text 15"/>
          <p:cNvSpPr/>
          <p:nvPr/>
        </p:nvSpPr>
        <p:spPr>
          <a:xfrm>
            <a:off x="838179" y="4226123"/>
            <a:ext cx="10515337" cy="660400"/>
          </a:xfrm>
          <a:prstGeom prst="rect">
            <a:avLst/>
          </a:prstGeom>
          <a:noFill/>
          <a:ln/>
        </p:spPr>
        <p:txBody>
          <a:bodyPr wrap="square" lIns="0" tIns="0" rIns="0" bIns="0" rtlCol="0" anchor="t">
            <a:normAutofit/>
          </a:bodyPr>
          <a:lstStyle/>
          <a:p>
            <a:pPr algn="l" indent="0" marL="0">
              <a:lnSpc>
                <a:spcPct val="108000"/>
              </a:lnSpc>
              <a:buNone/>
            </a:pPr>
            <a:r>
              <a:rPr lang="en-US" sz="2000" dirty="0">
                <a:solidFill>
                  <a:srgbClr val="000000"/>
                </a:solidFill>
                <a:latin typeface="Mozilla Text Medium" pitchFamily="34" charset="0"/>
                <a:ea typeface="Mozilla Text Medium" pitchFamily="34" charset="-122"/>
                <a:cs typeface="Mozilla Text Medium" pitchFamily="34" charset="0"/>
              </a:rPr>
              <a:t>Takeaway: campaign activity is large enough to optimize, but the next decision should be based on incremental value rather than attributed revenue alone.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2026-10-24T14:40:10Z</dcterms:created>
  <dcterms:modified xsi:type="dcterms:W3CDTF">2026-10-24T14:40:10Z</dcterms:modified>
</cp:coreProperties>
</file>